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60" r:id="rId2"/>
  </p:sldMasterIdLst>
  <p:notesMasterIdLst>
    <p:notesMasterId r:id="rId12"/>
  </p:notesMasterIdLst>
  <p:handoutMasterIdLst>
    <p:handoutMasterId r:id="rId13"/>
  </p:handoutMasterIdLst>
  <p:sldIdLst>
    <p:sldId id="256" r:id="rId3"/>
    <p:sldId id="258" r:id="rId4"/>
    <p:sldId id="263" r:id="rId5"/>
    <p:sldId id="264" r:id="rId6"/>
    <p:sldId id="265" r:id="rId7"/>
    <p:sldId id="268" r:id="rId8"/>
    <p:sldId id="266" r:id="rId9"/>
    <p:sldId id="267" r:id="rId10"/>
    <p:sldId id="25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4474"/>
    <a:srgbClr val="1161A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25"/>
    <p:restoredTop sz="94673"/>
  </p:normalViewPr>
  <p:slideViewPr>
    <p:cSldViewPr snapToGrid="0">
      <p:cViewPr varScale="1">
        <p:scale>
          <a:sx n="84" d="100"/>
          <a:sy n="84" d="100"/>
        </p:scale>
        <p:origin x="787" y="58"/>
      </p:cViewPr>
      <p:guideLst>
        <p:guide orient="horz" pos="2183"/>
        <p:guide pos="3840"/>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80" d="100"/>
          <a:sy n="80" d="100"/>
        </p:scale>
        <p:origin x="3696"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handoutMaster" Target="handoutMasters/handout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0AF734-D2E5-4F6B-282E-C9861E2512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9089865-F7EC-7501-ECDE-90CF2AF747B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03A284-F9E4-5641-B8E3-CA0F5435AFDD}" type="datetimeFigureOut">
              <a:rPr lang="en-US" smtClean="0"/>
              <a:t>6/14/2026</a:t>
            </a:fld>
            <a:endParaRPr lang="en-US"/>
          </a:p>
        </p:txBody>
      </p:sp>
      <p:sp>
        <p:nvSpPr>
          <p:cNvPr id="4" name="Footer Placeholder 3">
            <a:extLst>
              <a:ext uri="{FF2B5EF4-FFF2-40B4-BE49-F238E27FC236}">
                <a16:creationId xmlns:a16="http://schemas.microsoft.com/office/drawing/2014/main" id="{FEC85A9C-5B3A-7A33-F5AC-0526C299E6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F723A55-9341-6979-132F-200FDEC45F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CB0460D-DDE7-104C-8384-CAE0B846C109}" type="slidenum">
              <a:rPr lang="en-US" smtClean="0"/>
              <a:t>‹#›</a:t>
            </a:fld>
            <a:endParaRPr lang="en-US"/>
          </a:p>
        </p:txBody>
      </p:sp>
    </p:spTree>
    <p:extLst>
      <p:ext uri="{BB962C8B-B14F-4D97-AF65-F5344CB8AC3E}">
        <p14:creationId xmlns:p14="http://schemas.microsoft.com/office/powerpoint/2010/main" val="182501425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4D9A6F-E39B-8946-934B-9ED31F9A2A3F}" type="datetimeFigureOut">
              <a:rPr lang="en-US" smtClean="0"/>
              <a:t>6/14/2026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D620B4-95B5-FD49-B9DE-6C4E101C7F4A}" type="slidenum">
              <a:rPr lang="en-US" smtClean="0"/>
              <a:t>‹#›</a:t>
            </a:fld>
            <a:endParaRPr lang="en-US"/>
          </a:p>
        </p:txBody>
      </p:sp>
    </p:spTree>
    <p:extLst>
      <p:ext uri="{BB962C8B-B14F-4D97-AF65-F5344CB8AC3E}">
        <p14:creationId xmlns:p14="http://schemas.microsoft.com/office/powerpoint/2010/main" val="1011286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D620B4-95B5-FD49-B9DE-6C4E101C7F4A}" type="slidenum">
              <a:rPr lang="en-US" smtClean="0"/>
              <a:t>1</a:t>
            </a:fld>
            <a:endParaRPr lang="en-US"/>
          </a:p>
        </p:txBody>
      </p:sp>
    </p:spTree>
    <p:extLst>
      <p:ext uri="{BB962C8B-B14F-4D97-AF65-F5344CB8AC3E}">
        <p14:creationId xmlns:p14="http://schemas.microsoft.com/office/powerpoint/2010/main" val="445053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DBDBAEF-D433-DC3D-0943-04E6E4040AB4}"/>
              </a:ext>
            </a:extLst>
          </p:cNvPr>
          <p:cNvSpPr>
            <a:spLocks noGrp="1"/>
          </p:cNvSpPr>
          <p:nvPr>
            <p:ph type="subTitle" idx="1"/>
          </p:nvPr>
        </p:nvSpPr>
        <p:spPr>
          <a:xfrm>
            <a:off x="444747" y="1199408"/>
            <a:ext cx="9144000" cy="4943219"/>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
        <p:nvSpPr>
          <p:cNvPr id="7" name="Title 6">
            <a:extLst>
              <a:ext uri="{FF2B5EF4-FFF2-40B4-BE49-F238E27FC236}">
                <a16:creationId xmlns:a16="http://schemas.microsoft.com/office/drawing/2014/main" id="{D3D47A89-FE56-7396-5A05-26159B6C42EA}"/>
              </a:ext>
            </a:extLst>
          </p:cNvPr>
          <p:cNvSpPr>
            <a:spLocks noGrp="1"/>
          </p:cNvSpPr>
          <p:nvPr>
            <p:ph type="title"/>
          </p:nvPr>
        </p:nvSpPr>
        <p:spPr>
          <a:xfrm>
            <a:off x="444747" y="293906"/>
            <a:ext cx="6834827" cy="478023"/>
          </a:xfrm>
        </p:spPr>
        <p:txBody>
          <a:bodyPr/>
          <a:lstStyle/>
          <a:p>
            <a:endParaRPr lang="en-US" dirty="0"/>
          </a:p>
        </p:txBody>
      </p:sp>
      <p:sp>
        <p:nvSpPr>
          <p:cNvPr id="8" name="Slide Number Placeholder 7">
            <a:extLst>
              <a:ext uri="{FF2B5EF4-FFF2-40B4-BE49-F238E27FC236}">
                <a16:creationId xmlns:a16="http://schemas.microsoft.com/office/drawing/2014/main" id="{5A3C1B10-756F-175B-BE05-37344D79C399}"/>
              </a:ext>
            </a:extLst>
          </p:cNvPr>
          <p:cNvSpPr>
            <a:spLocks noGrp="1"/>
          </p:cNvSpPr>
          <p:nvPr>
            <p:ph type="sldNum" sz="quarter" idx="10"/>
          </p:nvPr>
        </p:nvSpPr>
        <p:spPr/>
        <p:txBody>
          <a:bodyPr/>
          <a:lstStyle/>
          <a:p>
            <a:fld id="{85685C37-E56F-714D-8EDF-954A3DD53A68}" type="slidenum">
              <a:rPr lang="en-US" smtClean="0"/>
              <a:t>‹#›</a:t>
            </a:fld>
            <a:endParaRPr lang="en-US"/>
          </a:p>
        </p:txBody>
      </p:sp>
    </p:spTree>
    <p:extLst>
      <p:ext uri="{BB962C8B-B14F-4D97-AF65-F5344CB8AC3E}">
        <p14:creationId xmlns:p14="http://schemas.microsoft.com/office/powerpoint/2010/main" val="226255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36CA5-B55D-EDF8-1C9E-76ECD012B7A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5082FC9-03D6-9FE8-EE6C-CE175A2E645A}"/>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676905C-0AE1-1CA1-761E-4225A1E1A8DB}"/>
              </a:ext>
            </a:extLst>
          </p:cNvPr>
          <p:cNvSpPr>
            <a:spLocks noGrp="1"/>
          </p:cNvSpPr>
          <p:nvPr>
            <p:ph type="dt" sz="half" idx="10"/>
          </p:nvPr>
        </p:nvSpPr>
        <p:spPr>
          <a:xfrm>
            <a:off x="838200" y="6356350"/>
            <a:ext cx="2743200" cy="365125"/>
          </a:xfrm>
          <a:prstGeom prst="rect">
            <a:avLst/>
          </a:prstGeom>
        </p:spPr>
        <p:txBody>
          <a:bodyPr/>
          <a:lstStyle/>
          <a:p>
            <a:fld id="{0612CD8E-892E-7843-8AF5-1F129A649923}" type="datetime1">
              <a:rPr lang="en-IN" smtClean="0"/>
              <a:t>14-06-2026</a:t>
            </a:fld>
            <a:endParaRPr lang="en-US"/>
          </a:p>
        </p:txBody>
      </p:sp>
      <p:sp>
        <p:nvSpPr>
          <p:cNvPr id="5" name="Footer Placeholder 4">
            <a:extLst>
              <a:ext uri="{FF2B5EF4-FFF2-40B4-BE49-F238E27FC236}">
                <a16:creationId xmlns:a16="http://schemas.microsoft.com/office/drawing/2014/main" id="{7E0632FC-0513-CB63-AFF3-8F9DB936BEE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D703AA6-8150-BCD3-9923-E39F36643233}"/>
              </a:ext>
            </a:extLst>
          </p:cNvPr>
          <p:cNvSpPr>
            <a:spLocks noGrp="1"/>
          </p:cNvSpPr>
          <p:nvPr>
            <p:ph type="sldNum" sz="quarter" idx="12"/>
          </p:nvPr>
        </p:nvSpPr>
        <p:spPr>
          <a:xfrm>
            <a:off x="8610600" y="6356350"/>
            <a:ext cx="2743200" cy="365125"/>
          </a:xfrm>
          <a:prstGeom prst="rect">
            <a:avLst/>
          </a:prstGeom>
        </p:spPr>
        <p:txBody>
          <a:bodyPr/>
          <a:lstStyle/>
          <a:p>
            <a:fld id="{5A0082F7-D4AD-0B42-A975-BF266F6466AA}" type="slidenum">
              <a:rPr lang="en-US" smtClean="0"/>
              <a:t>‹#›</a:t>
            </a:fld>
            <a:endParaRPr lang="en-US" dirty="0"/>
          </a:p>
        </p:txBody>
      </p:sp>
    </p:spTree>
    <p:extLst>
      <p:ext uri="{BB962C8B-B14F-4D97-AF65-F5344CB8AC3E}">
        <p14:creationId xmlns:p14="http://schemas.microsoft.com/office/powerpoint/2010/main" val="1467752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439DE-D7D2-D081-636E-AEF87476FB8B}"/>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5953289-DB6D-CBB1-0B06-5CA9852A3E9A}"/>
              </a:ext>
            </a:extLst>
          </p:cNvPr>
          <p:cNvSpPr>
            <a:spLocks noGrp="1"/>
          </p:cNvSpPr>
          <p:nvPr>
            <p:ph idx="1"/>
          </p:nvPr>
        </p:nvSpPr>
        <p:spPr>
          <a:xfrm>
            <a:off x="838200" y="1825625"/>
            <a:ext cx="10515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787D28A-FDC1-2341-1371-054A576EDF68}"/>
              </a:ext>
            </a:extLst>
          </p:cNvPr>
          <p:cNvSpPr>
            <a:spLocks noGrp="1"/>
          </p:cNvSpPr>
          <p:nvPr>
            <p:ph type="dt" sz="half" idx="10"/>
          </p:nvPr>
        </p:nvSpPr>
        <p:spPr>
          <a:xfrm>
            <a:off x="838200" y="6356350"/>
            <a:ext cx="2743200" cy="365125"/>
          </a:xfrm>
          <a:prstGeom prst="rect">
            <a:avLst/>
          </a:prstGeom>
        </p:spPr>
        <p:txBody>
          <a:bodyPr/>
          <a:lstStyle/>
          <a:p>
            <a:fld id="{F516437D-CB63-6940-BC37-2E6875FF4AC8}" type="datetime1">
              <a:rPr lang="en-IN" smtClean="0"/>
              <a:t>14-06-2026</a:t>
            </a:fld>
            <a:endParaRPr lang="en-US"/>
          </a:p>
        </p:txBody>
      </p:sp>
      <p:sp>
        <p:nvSpPr>
          <p:cNvPr id="5" name="Footer Placeholder 4">
            <a:extLst>
              <a:ext uri="{FF2B5EF4-FFF2-40B4-BE49-F238E27FC236}">
                <a16:creationId xmlns:a16="http://schemas.microsoft.com/office/drawing/2014/main" id="{73206DD8-5F92-FA77-0C80-1F53E4FF6A2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3114954-358A-FA97-DFD8-41F48C8A9FEE}"/>
              </a:ext>
            </a:extLst>
          </p:cNvPr>
          <p:cNvSpPr>
            <a:spLocks noGrp="1"/>
          </p:cNvSpPr>
          <p:nvPr>
            <p:ph type="sldNum" sz="quarter" idx="12"/>
          </p:nvPr>
        </p:nvSpPr>
        <p:spPr>
          <a:xfrm>
            <a:off x="8610600" y="6356350"/>
            <a:ext cx="2743200" cy="365125"/>
          </a:xfrm>
          <a:prstGeom prst="rect">
            <a:avLst/>
          </a:prstGeom>
        </p:spPr>
        <p:txBody>
          <a:bodyPr/>
          <a:lstStyle/>
          <a:p>
            <a:fld id="{5A0082F7-D4AD-0B42-A975-BF266F6466AA}" type="slidenum">
              <a:rPr lang="en-US" smtClean="0"/>
              <a:t>‹#›</a:t>
            </a:fld>
            <a:endParaRPr lang="en-US"/>
          </a:p>
        </p:txBody>
      </p:sp>
    </p:spTree>
    <p:extLst>
      <p:ext uri="{BB962C8B-B14F-4D97-AF65-F5344CB8AC3E}">
        <p14:creationId xmlns:p14="http://schemas.microsoft.com/office/powerpoint/2010/main" val="31067500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61759-968A-91B7-F997-B0166F29FFCD}"/>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B5AC0C3-C80A-EFAB-7212-BA37F7F9843D}"/>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8B0DB05-AFB6-AC13-1B35-5403EA047976}"/>
              </a:ext>
            </a:extLst>
          </p:cNvPr>
          <p:cNvSpPr>
            <a:spLocks noGrp="1"/>
          </p:cNvSpPr>
          <p:nvPr>
            <p:ph type="dt" sz="half" idx="10"/>
          </p:nvPr>
        </p:nvSpPr>
        <p:spPr>
          <a:xfrm>
            <a:off x="838200" y="6356350"/>
            <a:ext cx="2743200" cy="365125"/>
          </a:xfrm>
          <a:prstGeom prst="rect">
            <a:avLst/>
          </a:prstGeom>
        </p:spPr>
        <p:txBody>
          <a:bodyPr/>
          <a:lstStyle/>
          <a:p>
            <a:fld id="{99FCFF6E-1C2D-254C-9541-B9CC6222CFB5}" type="datetime1">
              <a:rPr lang="en-IN" smtClean="0"/>
              <a:t>14-06-2026</a:t>
            </a:fld>
            <a:endParaRPr lang="en-US"/>
          </a:p>
        </p:txBody>
      </p:sp>
      <p:sp>
        <p:nvSpPr>
          <p:cNvPr id="5" name="Footer Placeholder 4">
            <a:extLst>
              <a:ext uri="{FF2B5EF4-FFF2-40B4-BE49-F238E27FC236}">
                <a16:creationId xmlns:a16="http://schemas.microsoft.com/office/drawing/2014/main" id="{6B62816B-5204-1479-E332-4EF48FD4FE0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10BD6E0-7B93-E680-D98F-79471E32306B}"/>
              </a:ext>
            </a:extLst>
          </p:cNvPr>
          <p:cNvSpPr>
            <a:spLocks noGrp="1"/>
          </p:cNvSpPr>
          <p:nvPr>
            <p:ph type="sldNum" sz="quarter" idx="12"/>
          </p:nvPr>
        </p:nvSpPr>
        <p:spPr>
          <a:xfrm>
            <a:off x="8610600" y="6356350"/>
            <a:ext cx="2743200" cy="365125"/>
          </a:xfrm>
          <a:prstGeom prst="rect">
            <a:avLst/>
          </a:prstGeom>
        </p:spPr>
        <p:txBody>
          <a:bodyPr/>
          <a:lstStyle/>
          <a:p>
            <a:fld id="{5A0082F7-D4AD-0B42-A975-BF266F6466AA}" type="slidenum">
              <a:rPr lang="en-US" smtClean="0"/>
              <a:t>‹#›</a:t>
            </a:fld>
            <a:endParaRPr lang="en-US"/>
          </a:p>
        </p:txBody>
      </p:sp>
    </p:spTree>
    <p:extLst>
      <p:ext uri="{BB962C8B-B14F-4D97-AF65-F5344CB8AC3E}">
        <p14:creationId xmlns:p14="http://schemas.microsoft.com/office/powerpoint/2010/main" val="1516763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4189F-9F94-3361-A780-CEB2FA464C92}"/>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BFE408A-1427-441C-4546-98FF9D318D0E}"/>
              </a:ext>
            </a:extLst>
          </p:cNvPr>
          <p:cNvSpPr>
            <a:spLocks noGrp="1"/>
          </p:cNvSpPr>
          <p:nvPr>
            <p:ph sz="half" idx="1"/>
          </p:nvPr>
        </p:nvSpPr>
        <p:spPr>
          <a:xfrm>
            <a:off x="838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B5B6E81-6394-9835-F02D-BBC76A9E2937}"/>
              </a:ext>
            </a:extLst>
          </p:cNvPr>
          <p:cNvSpPr>
            <a:spLocks noGrp="1"/>
          </p:cNvSpPr>
          <p:nvPr>
            <p:ph sz="half" idx="2"/>
          </p:nvPr>
        </p:nvSpPr>
        <p:spPr>
          <a:xfrm>
            <a:off x="6172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30518CF0-57AD-39F0-E8BF-C0224D85B83D}"/>
              </a:ext>
            </a:extLst>
          </p:cNvPr>
          <p:cNvSpPr>
            <a:spLocks noGrp="1"/>
          </p:cNvSpPr>
          <p:nvPr>
            <p:ph type="dt" sz="half" idx="10"/>
          </p:nvPr>
        </p:nvSpPr>
        <p:spPr>
          <a:xfrm>
            <a:off x="838200" y="6356350"/>
            <a:ext cx="2743200" cy="365125"/>
          </a:xfrm>
          <a:prstGeom prst="rect">
            <a:avLst/>
          </a:prstGeom>
        </p:spPr>
        <p:txBody>
          <a:bodyPr/>
          <a:lstStyle/>
          <a:p>
            <a:fld id="{0AB829E4-85D8-E443-A7E8-49622C58D312}" type="datetime1">
              <a:rPr lang="en-IN" smtClean="0"/>
              <a:t>14-06-2026</a:t>
            </a:fld>
            <a:endParaRPr lang="en-US"/>
          </a:p>
        </p:txBody>
      </p:sp>
      <p:sp>
        <p:nvSpPr>
          <p:cNvPr id="6" name="Footer Placeholder 5">
            <a:extLst>
              <a:ext uri="{FF2B5EF4-FFF2-40B4-BE49-F238E27FC236}">
                <a16:creationId xmlns:a16="http://schemas.microsoft.com/office/drawing/2014/main" id="{933BC4CC-8F2C-ED85-45BA-51B153C65B6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293F369-E2FD-6CDC-090D-679ADC7942FF}"/>
              </a:ext>
            </a:extLst>
          </p:cNvPr>
          <p:cNvSpPr>
            <a:spLocks noGrp="1"/>
          </p:cNvSpPr>
          <p:nvPr>
            <p:ph type="sldNum" sz="quarter" idx="12"/>
          </p:nvPr>
        </p:nvSpPr>
        <p:spPr>
          <a:xfrm>
            <a:off x="8610600" y="6356350"/>
            <a:ext cx="2743200" cy="365125"/>
          </a:xfrm>
          <a:prstGeom prst="rect">
            <a:avLst/>
          </a:prstGeom>
        </p:spPr>
        <p:txBody>
          <a:bodyPr/>
          <a:lstStyle/>
          <a:p>
            <a:fld id="{5A0082F7-D4AD-0B42-A975-BF266F6466AA}" type="slidenum">
              <a:rPr lang="en-US" smtClean="0"/>
              <a:t>‹#›</a:t>
            </a:fld>
            <a:endParaRPr lang="en-US"/>
          </a:p>
        </p:txBody>
      </p:sp>
    </p:spTree>
    <p:extLst>
      <p:ext uri="{BB962C8B-B14F-4D97-AF65-F5344CB8AC3E}">
        <p14:creationId xmlns:p14="http://schemas.microsoft.com/office/powerpoint/2010/main" val="1925817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9257E-264E-A16C-9228-046EE1CDC4DC}"/>
              </a:ext>
            </a:extLst>
          </p:cNvPr>
          <p:cNvSpPr>
            <a:spLocks noGrp="1"/>
          </p:cNvSpPr>
          <p:nvPr>
            <p:ph type="title"/>
          </p:nvPr>
        </p:nvSpPr>
        <p:spPr>
          <a:xfrm>
            <a:off x="839788" y="365125"/>
            <a:ext cx="10515600" cy="1325563"/>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1224D48-6620-53DD-855E-30AAC364F1F9}"/>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2FA5959-609F-FE2F-82B7-CA564D1C10F6}"/>
              </a:ext>
            </a:extLst>
          </p:cNvPr>
          <p:cNvSpPr>
            <a:spLocks noGrp="1"/>
          </p:cNvSpPr>
          <p:nvPr>
            <p:ph sz="half" idx="2"/>
          </p:nvPr>
        </p:nvSpPr>
        <p:spPr>
          <a:xfrm>
            <a:off x="839788" y="2505075"/>
            <a:ext cx="5157787"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2FAA464-382E-5E6B-FB76-D8B9DED790EE}"/>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56DAC23-465E-9F32-BB32-279B17DDCE84}"/>
              </a:ext>
            </a:extLst>
          </p:cNvPr>
          <p:cNvSpPr>
            <a:spLocks noGrp="1"/>
          </p:cNvSpPr>
          <p:nvPr>
            <p:ph sz="quarter" idx="4"/>
          </p:nvPr>
        </p:nvSpPr>
        <p:spPr>
          <a:xfrm>
            <a:off x="6172200" y="2505075"/>
            <a:ext cx="5183188"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7B4AE32-41E3-B4A4-00C3-59960E1F8E2B}"/>
              </a:ext>
            </a:extLst>
          </p:cNvPr>
          <p:cNvSpPr>
            <a:spLocks noGrp="1"/>
          </p:cNvSpPr>
          <p:nvPr>
            <p:ph type="dt" sz="half" idx="10"/>
          </p:nvPr>
        </p:nvSpPr>
        <p:spPr>
          <a:xfrm>
            <a:off x="838200" y="6356350"/>
            <a:ext cx="2743200" cy="365125"/>
          </a:xfrm>
          <a:prstGeom prst="rect">
            <a:avLst/>
          </a:prstGeom>
        </p:spPr>
        <p:txBody>
          <a:bodyPr/>
          <a:lstStyle/>
          <a:p>
            <a:fld id="{D50A0F9B-CAE1-744C-B991-17B232B8FBD1}" type="datetime1">
              <a:rPr lang="en-IN" smtClean="0"/>
              <a:t>14-06-2026</a:t>
            </a:fld>
            <a:endParaRPr lang="en-US"/>
          </a:p>
        </p:txBody>
      </p:sp>
      <p:sp>
        <p:nvSpPr>
          <p:cNvPr id="8" name="Footer Placeholder 7">
            <a:extLst>
              <a:ext uri="{FF2B5EF4-FFF2-40B4-BE49-F238E27FC236}">
                <a16:creationId xmlns:a16="http://schemas.microsoft.com/office/drawing/2014/main" id="{8E6EC1A3-AA17-8C71-09A9-6452BC30D09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9F23B88-73F0-EB2D-1199-F803CF5E603B}"/>
              </a:ext>
            </a:extLst>
          </p:cNvPr>
          <p:cNvSpPr>
            <a:spLocks noGrp="1"/>
          </p:cNvSpPr>
          <p:nvPr>
            <p:ph type="sldNum" sz="quarter" idx="12"/>
          </p:nvPr>
        </p:nvSpPr>
        <p:spPr>
          <a:xfrm>
            <a:off x="8610600" y="6356350"/>
            <a:ext cx="2743200" cy="365125"/>
          </a:xfrm>
          <a:prstGeom prst="rect">
            <a:avLst/>
          </a:prstGeom>
        </p:spPr>
        <p:txBody>
          <a:bodyPr/>
          <a:lstStyle/>
          <a:p>
            <a:fld id="{5A0082F7-D4AD-0B42-A975-BF266F6466AA}" type="slidenum">
              <a:rPr lang="en-US" smtClean="0"/>
              <a:t>‹#›</a:t>
            </a:fld>
            <a:endParaRPr lang="en-US"/>
          </a:p>
        </p:txBody>
      </p:sp>
    </p:spTree>
    <p:extLst>
      <p:ext uri="{BB962C8B-B14F-4D97-AF65-F5344CB8AC3E}">
        <p14:creationId xmlns:p14="http://schemas.microsoft.com/office/powerpoint/2010/main" val="1172351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0C29B-B131-4471-6BDD-862A8DA487B6}"/>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E228583-EF1A-791B-250E-60916DC85041}"/>
              </a:ext>
            </a:extLst>
          </p:cNvPr>
          <p:cNvSpPr>
            <a:spLocks noGrp="1"/>
          </p:cNvSpPr>
          <p:nvPr>
            <p:ph type="dt" sz="half" idx="10"/>
          </p:nvPr>
        </p:nvSpPr>
        <p:spPr>
          <a:xfrm>
            <a:off x="838200" y="6356350"/>
            <a:ext cx="2743200" cy="365125"/>
          </a:xfrm>
          <a:prstGeom prst="rect">
            <a:avLst/>
          </a:prstGeom>
        </p:spPr>
        <p:txBody>
          <a:bodyPr/>
          <a:lstStyle/>
          <a:p>
            <a:fld id="{607324C4-02E8-0A4E-8189-77FBC4618BA1}" type="datetime1">
              <a:rPr lang="en-IN" smtClean="0"/>
              <a:t>14-06-2026</a:t>
            </a:fld>
            <a:endParaRPr lang="en-US"/>
          </a:p>
        </p:txBody>
      </p:sp>
      <p:sp>
        <p:nvSpPr>
          <p:cNvPr id="4" name="Footer Placeholder 3">
            <a:extLst>
              <a:ext uri="{FF2B5EF4-FFF2-40B4-BE49-F238E27FC236}">
                <a16:creationId xmlns:a16="http://schemas.microsoft.com/office/drawing/2014/main" id="{0E402F92-6A74-E857-BE38-9EB3DF80BF8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CF4E03FB-D12E-3213-9E18-EA38150DC308}"/>
              </a:ext>
            </a:extLst>
          </p:cNvPr>
          <p:cNvSpPr>
            <a:spLocks noGrp="1"/>
          </p:cNvSpPr>
          <p:nvPr>
            <p:ph type="sldNum" sz="quarter" idx="12"/>
          </p:nvPr>
        </p:nvSpPr>
        <p:spPr>
          <a:xfrm>
            <a:off x="8610600" y="6356350"/>
            <a:ext cx="2743200" cy="365125"/>
          </a:xfrm>
          <a:prstGeom prst="rect">
            <a:avLst/>
          </a:prstGeom>
        </p:spPr>
        <p:txBody>
          <a:bodyPr/>
          <a:lstStyle/>
          <a:p>
            <a:fld id="{5A0082F7-D4AD-0B42-A975-BF266F6466AA}" type="slidenum">
              <a:rPr lang="en-US" smtClean="0"/>
              <a:t>‹#›</a:t>
            </a:fld>
            <a:endParaRPr lang="en-US"/>
          </a:p>
        </p:txBody>
      </p:sp>
    </p:spTree>
    <p:extLst>
      <p:ext uri="{BB962C8B-B14F-4D97-AF65-F5344CB8AC3E}">
        <p14:creationId xmlns:p14="http://schemas.microsoft.com/office/powerpoint/2010/main" val="950346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2595FC-BBF7-019D-405D-13E727A85FC0}"/>
              </a:ext>
            </a:extLst>
          </p:cNvPr>
          <p:cNvSpPr>
            <a:spLocks noGrp="1"/>
          </p:cNvSpPr>
          <p:nvPr>
            <p:ph type="dt" sz="half" idx="10"/>
          </p:nvPr>
        </p:nvSpPr>
        <p:spPr>
          <a:xfrm>
            <a:off x="838200" y="6356350"/>
            <a:ext cx="2743200" cy="365125"/>
          </a:xfrm>
          <a:prstGeom prst="rect">
            <a:avLst/>
          </a:prstGeom>
        </p:spPr>
        <p:txBody>
          <a:bodyPr/>
          <a:lstStyle/>
          <a:p>
            <a:fld id="{AB057155-CDCE-E942-BFEA-59E4FDFFA8B6}" type="datetime1">
              <a:rPr lang="en-IN" smtClean="0"/>
              <a:t>14-06-2026</a:t>
            </a:fld>
            <a:endParaRPr lang="en-US"/>
          </a:p>
        </p:txBody>
      </p:sp>
      <p:sp>
        <p:nvSpPr>
          <p:cNvPr id="3" name="Footer Placeholder 2">
            <a:extLst>
              <a:ext uri="{FF2B5EF4-FFF2-40B4-BE49-F238E27FC236}">
                <a16:creationId xmlns:a16="http://schemas.microsoft.com/office/drawing/2014/main" id="{C5E824B1-3920-D139-5077-1A91CB43DD2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44AF478D-57A5-2FB8-521B-6A26906E1AEF}"/>
              </a:ext>
            </a:extLst>
          </p:cNvPr>
          <p:cNvSpPr>
            <a:spLocks noGrp="1"/>
          </p:cNvSpPr>
          <p:nvPr>
            <p:ph type="sldNum" sz="quarter" idx="12"/>
          </p:nvPr>
        </p:nvSpPr>
        <p:spPr>
          <a:xfrm>
            <a:off x="8610600" y="6356350"/>
            <a:ext cx="2743200" cy="365125"/>
          </a:xfrm>
          <a:prstGeom prst="rect">
            <a:avLst/>
          </a:prstGeom>
        </p:spPr>
        <p:txBody>
          <a:bodyPr/>
          <a:lstStyle/>
          <a:p>
            <a:fld id="{5A0082F7-D4AD-0B42-A975-BF266F6466AA}" type="slidenum">
              <a:rPr lang="en-US" smtClean="0"/>
              <a:t>‹#›</a:t>
            </a:fld>
            <a:endParaRPr lang="en-US"/>
          </a:p>
        </p:txBody>
      </p:sp>
    </p:spTree>
    <p:extLst>
      <p:ext uri="{BB962C8B-B14F-4D97-AF65-F5344CB8AC3E}">
        <p14:creationId xmlns:p14="http://schemas.microsoft.com/office/powerpoint/2010/main" val="2044452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03D7E-DFE0-5403-9020-232AEA4B952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53E546D-C591-BB4A-98B7-3808AB61C8C1}"/>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5E94046-FEA8-F99E-3E0E-703A96C48F7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B2A54E-429A-6574-1C22-C71D44762437}"/>
              </a:ext>
            </a:extLst>
          </p:cNvPr>
          <p:cNvSpPr>
            <a:spLocks noGrp="1"/>
          </p:cNvSpPr>
          <p:nvPr>
            <p:ph type="dt" sz="half" idx="10"/>
          </p:nvPr>
        </p:nvSpPr>
        <p:spPr>
          <a:xfrm>
            <a:off x="838200" y="6356350"/>
            <a:ext cx="2743200" cy="365125"/>
          </a:xfrm>
          <a:prstGeom prst="rect">
            <a:avLst/>
          </a:prstGeom>
        </p:spPr>
        <p:txBody>
          <a:bodyPr/>
          <a:lstStyle/>
          <a:p>
            <a:fld id="{6445F3C8-EA94-B94B-A4C5-350D4D2E94A6}" type="datetime1">
              <a:rPr lang="en-IN" smtClean="0"/>
              <a:t>14-06-2026</a:t>
            </a:fld>
            <a:endParaRPr lang="en-US"/>
          </a:p>
        </p:txBody>
      </p:sp>
      <p:sp>
        <p:nvSpPr>
          <p:cNvPr id="6" name="Footer Placeholder 5">
            <a:extLst>
              <a:ext uri="{FF2B5EF4-FFF2-40B4-BE49-F238E27FC236}">
                <a16:creationId xmlns:a16="http://schemas.microsoft.com/office/drawing/2014/main" id="{127B68B4-F1F5-0653-E202-D4E0131BF11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6B30BC1-F3D0-8D89-B6C5-938CDFFE76B2}"/>
              </a:ext>
            </a:extLst>
          </p:cNvPr>
          <p:cNvSpPr>
            <a:spLocks noGrp="1"/>
          </p:cNvSpPr>
          <p:nvPr>
            <p:ph type="sldNum" sz="quarter" idx="12"/>
          </p:nvPr>
        </p:nvSpPr>
        <p:spPr>
          <a:xfrm>
            <a:off x="8610600" y="6356350"/>
            <a:ext cx="2743200" cy="365125"/>
          </a:xfrm>
          <a:prstGeom prst="rect">
            <a:avLst/>
          </a:prstGeom>
        </p:spPr>
        <p:txBody>
          <a:bodyPr/>
          <a:lstStyle/>
          <a:p>
            <a:fld id="{5A0082F7-D4AD-0B42-A975-BF266F6466AA}" type="slidenum">
              <a:rPr lang="en-US" smtClean="0"/>
              <a:t>‹#›</a:t>
            </a:fld>
            <a:endParaRPr lang="en-US"/>
          </a:p>
        </p:txBody>
      </p:sp>
    </p:spTree>
    <p:extLst>
      <p:ext uri="{BB962C8B-B14F-4D97-AF65-F5344CB8AC3E}">
        <p14:creationId xmlns:p14="http://schemas.microsoft.com/office/powerpoint/2010/main" val="3881852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A1757-D266-8C4E-ADB9-4A6D8628F10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50E62ED-6715-E284-B4E3-2A5B36FC5DC7}"/>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240C15-0EC7-4111-2222-3711B671C57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358EEF6-DB9C-77C3-698C-AACD915D6F4D}"/>
              </a:ext>
            </a:extLst>
          </p:cNvPr>
          <p:cNvSpPr>
            <a:spLocks noGrp="1"/>
          </p:cNvSpPr>
          <p:nvPr>
            <p:ph type="dt" sz="half" idx="10"/>
          </p:nvPr>
        </p:nvSpPr>
        <p:spPr>
          <a:xfrm>
            <a:off x="838200" y="6356350"/>
            <a:ext cx="2743200" cy="365125"/>
          </a:xfrm>
          <a:prstGeom prst="rect">
            <a:avLst/>
          </a:prstGeom>
        </p:spPr>
        <p:txBody>
          <a:bodyPr/>
          <a:lstStyle/>
          <a:p>
            <a:fld id="{F61AEE41-513A-814D-B4F2-46A5EE359961}" type="datetime1">
              <a:rPr lang="en-IN" smtClean="0"/>
              <a:t>14-06-2026</a:t>
            </a:fld>
            <a:endParaRPr lang="en-US"/>
          </a:p>
        </p:txBody>
      </p:sp>
      <p:sp>
        <p:nvSpPr>
          <p:cNvPr id="6" name="Footer Placeholder 5">
            <a:extLst>
              <a:ext uri="{FF2B5EF4-FFF2-40B4-BE49-F238E27FC236}">
                <a16:creationId xmlns:a16="http://schemas.microsoft.com/office/drawing/2014/main" id="{B8A28189-32C1-999F-6103-879BA88C2B9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40F712B-A309-3AFE-1C68-A8B4E1B3E468}"/>
              </a:ext>
            </a:extLst>
          </p:cNvPr>
          <p:cNvSpPr>
            <a:spLocks noGrp="1"/>
          </p:cNvSpPr>
          <p:nvPr>
            <p:ph type="sldNum" sz="quarter" idx="12"/>
          </p:nvPr>
        </p:nvSpPr>
        <p:spPr>
          <a:xfrm>
            <a:off x="8610600" y="6356350"/>
            <a:ext cx="2743200" cy="365125"/>
          </a:xfrm>
          <a:prstGeom prst="rect">
            <a:avLst/>
          </a:prstGeom>
        </p:spPr>
        <p:txBody>
          <a:bodyPr/>
          <a:lstStyle/>
          <a:p>
            <a:fld id="{5A0082F7-D4AD-0B42-A975-BF266F6466AA}" type="slidenum">
              <a:rPr lang="en-US" smtClean="0"/>
              <a:t>‹#›</a:t>
            </a:fld>
            <a:endParaRPr lang="en-US"/>
          </a:p>
        </p:txBody>
      </p:sp>
    </p:spTree>
    <p:extLst>
      <p:ext uri="{BB962C8B-B14F-4D97-AF65-F5344CB8AC3E}">
        <p14:creationId xmlns:p14="http://schemas.microsoft.com/office/powerpoint/2010/main" val="3134962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8704C-CAC6-FB06-E2E1-8CEE87AD7CB8}"/>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5D6F87C-E210-37A2-4E97-E984B93BC75F}"/>
              </a:ext>
            </a:extLst>
          </p:cNvPr>
          <p:cNvSpPr>
            <a:spLocks noGrp="1"/>
          </p:cNvSpPr>
          <p:nvPr>
            <p:ph type="body" orient="vert" idx="1"/>
          </p:nvPr>
        </p:nvSpPr>
        <p:spPr>
          <a:xfrm>
            <a:off x="838200" y="1825625"/>
            <a:ext cx="10515600" cy="43513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F66E35-1AAD-C777-133B-DD2EFD335763}"/>
              </a:ext>
            </a:extLst>
          </p:cNvPr>
          <p:cNvSpPr>
            <a:spLocks noGrp="1"/>
          </p:cNvSpPr>
          <p:nvPr>
            <p:ph type="dt" sz="half" idx="10"/>
          </p:nvPr>
        </p:nvSpPr>
        <p:spPr>
          <a:xfrm>
            <a:off x="838200" y="6356350"/>
            <a:ext cx="2743200" cy="365125"/>
          </a:xfrm>
          <a:prstGeom prst="rect">
            <a:avLst/>
          </a:prstGeom>
        </p:spPr>
        <p:txBody>
          <a:bodyPr/>
          <a:lstStyle/>
          <a:p>
            <a:fld id="{0501F457-A7A8-2749-A426-485C96EF1319}" type="datetime1">
              <a:rPr lang="en-IN" smtClean="0"/>
              <a:t>14-06-2026</a:t>
            </a:fld>
            <a:endParaRPr lang="en-US"/>
          </a:p>
        </p:txBody>
      </p:sp>
      <p:sp>
        <p:nvSpPr>
          <p:cNvPr id="5" name="Footer Placeholder 4">
            <a:extLst>
              <a:ext uri="{FF2B5EF4-FFF2-40B4-BE49-F238E27FC236}">
                <a16:creationId xmlns:a16="http://schemas.microsoft.com/office/drawing/2014/main" id="{4F4D22F0-C314-833D-8A51-0082C4F21CB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D51BEE3-E623-75C7-87F8-2EA682FCF5FA}"/>
              </a:ext>
            </a:extLst>
          </p:cNvPr>
          <p:cNvSpPr>
            <a:spLocks noGrp="1"/>
          </p:cNvSpPr>
          <p:nvPr>
            <p:ph type="sldNum" sz="quarter" idx="12"/>
          </p:nvPr>
        </p:nvSpPr>
        <p:spPr>
          <a:xfrm>
            <a:off x="8610600" y="6356350"/>
            <a:ext cx="2743200" cy="365125"/>
          </a:xfrm>
          <a:prstGeom prst="rect">
            <a:avLst/>
          </a:prstGeom>
        </p:spPr>
        <p:txBody>
          <a:bodyPr/>
          <a:lstStyle/>
          <a:p>
            <a:fld id="{5A0082F7-D4AD-0B42-A975-BF266F6466AA}" type="slidenum">
              <a:rPr lang="en-US" smtClean="0"/>
              <a:t>‹#›</a:t>
            </a:fld>
            <a:endParaRPr lang="en-US"/>
          </a:p>
        </p:txBody>
      </p:sp>
    </p:spTree>
    <p:extLst>
      <p:ext uri="{BB962C8B-B14F-4D97-AF65-F5344CB8AC3E}">
        <p14:creationId xmlns:p14="http://schemas.microsoft.com/office/powerpoint/2010/main" val="406052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10891E-0C5B-8354-4D5B-2394FC2215DC}"/>
              </a:ext>
            </a:extLst>
          </p:cNvPr>
          <p:cNvSpPr>
            <a:spLocks noGrp="1"/>
          </p:cNvSpPr>
          <p:nvPr>
            <p:ph type="title" orient="vert"/>
          </p:nvPr>
        </p:nvSpPr>
        <p:spPr>
          <a:xfrm>
            <a:off x="8724900" y="365125"/>
            <a:ext cx="2628900" cy="5811838"/>
          </a:xfrm>
          <a:prstGeom prst="rect">
            <a:avLst/>
          </a:prstGeo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E9535AB-D986-EA84-2A89-E7C197150322}"/>
              </a:ext>
            </a:extLst>
          </p:cNvPr>
          <p:cNvSpPr>
            <a:spLocks noGrp="1"/>
          </p:cNvSpPr>
          <p:nvPr>
            <p:ph type="body" orient="vert" idx="1"/>
          </p:nvPr>
        </p:nvSpPr>
        <p:spPr>
          <a:xfrm>
            <a:off x="838200" y="365125"/>
            <a:ext cx="7734300" cy="58118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9EF3CE3-9EB3-8DB8-0B10-FBC985079BD4}"/>
              </a:ext>
            </a:extLst>
          </p:cNvPr>
          <p:cNvSpPr>
            <a:spLocks noGrp="1"/>
          </p:cNvSpPr>
          <p:nvPr>
            <p:ph type="dt" sz="half" idx="10"/>
          </p:nvPr>
        </p:nvSpPr>
        <p:spPr>
          <a:xfrm>
            <a:off x="838200" y="6356350"/>
            <a:ext cx="2743200" cy="365125"/>
          </a:xfrm>
          <a:prstGeom prst="rect">
            <a:avLst/>
          </a:prstGeom>
        </p:spPr>
        <p:txBody>
          <a:bodyPr/>
          <a:lstStyle/>
          <a:p>
            <a:fld id="{7636097E-11A6-2D4F-98F4-6C6599485D58}" type="datetime1">
              <a:rPr lang="en-IN" smtClean="0"/>
              <a:t>14-06-2026</a:t>
            </a:fld>
            <a:endParaRPr lang="en-US"/>
          </a:p>
        </p:txBody>
      </p:sp>
      <p:sp>
        <p:nvSpPr>
          <p:cNvPr id="5" name="Footer Placeholder 4">
            <a:extLst>
              <a:ext uri="{FF2B5EF4-FFF2-40B4-BE49-F238E27FC236}">
                <a16:creationId xmlns:a16="http://schemas.microsoft.com/office/drawing/2014/main" id="{61E3718D-E863-921A-C0F7-D5EEAF192CC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F011AD7-EDD8-3B9F-5373-9DCC38E77B1B}"/>
              </a:ext>
            </a:extLst>
          </p:cNvPr>
          <p:cNvSpPr>
            <a:spLocks noGrp="1"/>
          </p:cNvSpPr>
          <p:nvPr>
            <p:ph type="sldNum" sz="quarter" idx="12"/>
          </p:nvPr>
        </p:nvSpPr>
        <p:spPr>
          <a:xfrm>
            <a:off x="8610600" y="6356350"/>
            <a:ext cx="2743200" cy="365125"/>
          </a:xfrm>
          <a:prstGeom prst="rect">
            <a:avLst/>
          </a:prstGeom>
        </p:spPr>
        <p:txBody>
          <a:bodyPr/>
          <a:lstStyle/>
          <a:p>
            <a:fld id="{5A0082F7-D4AD-0B42-A975-BF266F6466AA}" type="slidenum">
              <a:rPr lang="en-US" smtClean="0"/>
              <a:t>‹#›</a:t>
            </a:fld>
            <a:endParaRPr lang="en-US"/>
          </a:p>
        </p:txBody>
      </p:sp>
    </p:spTree>
    <p:extLst>
      <p:ext uri="{BB962C8B-B14F-4D97-AF65-F5344CB8AC3E}">
        <p14:creationId xmlns:p14="http://schemas.microsoft.com/office/powerpoint/2010/main" val="46324692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1.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itle Placeholder 10">
            <a:extLst>
              <a:ext uri="{FF2B5EF4-FFF2-40B4-BE49-F238E27FC236}">
                <a16:creationId xmlns:a16="http://schemas.microsoft.com/office/drawing/2014/main" id="{2343C377-F63E-EBCB-1FAE-BB90BAE86C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13" name="Text Placeholder 12">
            <a:extLst>
              <a:ext uri="{FF2B5EF4-FFF2-40B4-BE49-F238E27FC236}">
                <a16:creationId xmlns:a16="http://schemas.microsoft.com/office/drawing/2014/main" id="{C23F158A-023E-B08E-CBC4-52AFEE6E1B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Slide Number Placeholder 15">
            <a:extLst>
              <a:ext uri="{FF2B5EF4-FFF2-40B4-BE49-F238E27FC236}">
                <a16:creationId xmlns:a16="http://schemas.microsoft.com/office/drawing/2014/main" id="{95F8D34B-CC44-0280-BD55-660F0DD505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685C37-E56F-714D-8EDF-954A3DD53A68}" type="slidenum">
              <a:rPr lang="en-US" smtClean="0"/>
              <a:t>‹#›</a:t>
            </a:fld>
            <a:endParaRPr lang="en-US"/>
          </a:p>
        </p:txBody>
      </p:sp>
    </p:spTree>
    <p:extLst>
      <p:ext uri="{BB962C8B-B14F-4D97-AF65-F5344CB8AC3E}">
        <p14:creationId xmlns:p14="http://schemas.microsoft.com/office/powerpoint/2010/main" val="2114199811"/>
      </p:ext>
    </p:extLst>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l" defTabSz="914400" rtl="0" eaLnBrk="1" latinLnBrk="0" hangingPunct="1">
        <a:lnSpc>
          <a:spcPct val="90000"/>
        </a:lnSpc>
        <a:spcBef>
          <a:spcPct val="0"/>
        </a:spcBef>
        <a:buNone/>
        <a:defRPr sz="2800" b="0"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1E02FA-775E-3D05-BFBD-70884E9E59FF}"/>
              </a:ext>
            </a:extLst>
          </p:cNvPr>
          <p:cNvSpPr/>
          <p:nvPr userDrawn="1"/>
        </p:nvSpPr>
        <p:spPr>
          <a:xfrm>
            <a:off x="0" y="6472052"/>
            <a:ext cx="12192000" cy="3859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ubtitle 2">
            <a:extLst>
              <a:ext uri="{FF2B5EF4-FFF2-40B4-BE49-F238E27FC236}">
                <a16:creationId xmlns:a16="http://schemas.microsoft.com/office/drawing/2014/main" id="{7B261FB5-5E34-5A2C-3F74-7D6EF0C70278}"/>
              </a:ext>
            </a:extLst>
          </p:cNvPr>
          <p:cNvSpPr txBox="1">
            <a:spLocks/>
          </p:cNvSpPr>
          <p:nvPr userDrawn="1"/>
        </p:nvSpPr>
        <p:spPr>
          <a:xfrm>
            <a:off x="444747" y="1199408"/>
            <a:ext cx="9144000" cy="4943219"/>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8" name="Title 6">
            <a:extLst>
              <a:ext uri="{FF2B5EF4-FFF2-40B4-BE49-F238E27FC236}">
                <a16:creationId xmlns:a16="http://schemas.microsoft.com/office/drawing/2014/main" id="{2229B6B0-8B1B-1B61-0AC5-0791BE9361FB}"/>
              </a:ext>
            </a:extLst>
          </p:cNvPr>
          <p:cNvSpPr txBox="1">
            <a:spLocks/>
          </p:cNvSpPr>
          <p:nvPr userDrawn="1"/>
        </p:nvSpPr>
        <p:spPr>
          <a:xfrm>
            <a:off x="444747" y="293906"/>
            <a:ext cx="6834827" cy="47802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pic>
        <p:nvPicPr>
          <p:cNvPr id="10" name="Picture 9" descr="A blue shield with a book and sun&#10;&#10;Description automatically generated">
            <a:extLst>
              <a:ext uri="{FF2B5EF4-FFF2-40B4-BE49-F238E27FC236}">
                <a16:creationId xmlns:a16="http://schemas.microsoft.com/office/drawing/2014/main" id="{A48995E4-61C2-AF9E-AEFD-421BE56F50D2}"/>
              </a:ext>
            </a:extLst>
          </p:cNvPr>
          <p:cNvPicPr>
            <a:picLocks noChangeAspect="1"/>
          </p:cNvPicPr>
          <p:nvPr userDrawn="1"/>
        </p:nvPicPr>
        <p:blipFill>
          <a:blip r:embed="rId13"/>
          <a:stretch>
            <a:fillRect/>
          </a:stretch>
        </p:blipFill>
        <p:spPr>
          <a:xfrm>
            <a:off x="10960347" y="80185"/>
            <a:ext cx="1136650" cy="905467"/>
          </a:xfrm>
          <a:prstGeom prst="rect">
            <a:avLst/>
          </a:prstGeom>
        </p:spPr>
      </p:pic>
      <p:sp>
        <p:nvSpPr>
          <p:cNvPr id="4" name="Slide Number Placeholder 3">
            <a:extLst>
              <a:ext uri="{FF2B5EF4-FFF2-40B4-BE49-F238E27FC236}">
                <a16:creationId xmlns:a16="http://schemas.microsoft.com/office/drawing/2014/main" id="{01A95CB0-A114-08CB-5117-D02DD04F168A}"/>
              </a:ext>
            </a:extLst>
          </p:cNvPr>
          <p:cNvSpPr>
            <a:spLocks noGrp="1"/>
          </p:cNvSpPr>
          <p:nvPr>
            <p:ph type="sldNum" sz="quarter" idx="4"/>
          </p:nvPr>
        </p:nvSpPr>
        <p:spPr>
          <a:xfrm>
            <a:off x="9353797" y="6482463"/>
            <a:ext cx="2743200" cy="365125"/>
          </a:xfrm>
          <a:prstGeom prst="rect">
            <a:avLst/>
          </a:prstGeom>
        </p:spPr>
        <p:txBody>
          <a:bodyPr vert="horz" lIns="91440" tIns="45720" rIns="91440" bIns="45720" rtlCol="0" anchor="ctr"/>
          <a:lstStyle>
            <a:lvl1pPr algn="r">
              <a:defRPr sz="1200">
                <a:solidFill>
                  <a:schemeClr val="bg1"/>
                </a:solidFill>
              </a:defRPr>
            </a:lvl1pPr>
          </a:lstStyle>
          <a:p>
            <a:fld id="{6177CFC9-81D4-3F40-864D-FA3092785311}" type="slidenum">
              <a:rPr lang="en-US" smtClean="0"/>
              <a:pPr/>
              <a:t>‹#›</a:t>
            </a:fld>
            <a:endParaRPr lang="en-US" dirty="0"/>
          </a:p>
        </p:txBody>
      </p:sp>
    </p:spTree>
    <p:extLst>
      <p:ext uri="{BB962C8B-B14F-4D97-AF65-F5344CB8AC3E}">
        <p14:creationId xmlns:p14="http://schemas.microsoft.com/office/powerpoint/2010/main" val="28178875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hyperlink" Target="https://www.linkedin.com/in/akshay-kumar-mishra-b3874996/"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rapezium 2">
            <a:extLst>
              <a:ext uri="{FF2B5EF4-FFF2-40B4-BE49-F238E27FC236}">
                <a16:creationId xmlns:a16="http://schemas.microsoft.com/office/drawing/2014/main" id="{9196CC03-3F12-2805-F6B2-08350074D5D4}"/>
              </a:ext>
            </a:extLst>
          </p:cNvPr>
          <p:cNvSpPr/>
          <p:nvPr/>
        </p:nvSpPr>
        <p:spPr>
          <a:xfrm>
            <a:off x="-3398227" y="0"/>
            <a:ext cx="10336939" cy="6858000"/>
          </a:xfrm>
          <a:prstGeom prst="trapezoid">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blue shield with a book and sun&#10;&#10;Description automatically generated">
            <a:extLst>
              <a:ext uri="{FF2B5EF4-FFF2-40B4-BE49-F238E27FC236}">
                <a16:creationId xmlns:a16="http://schemas.microsoft.com/office/drawing/2014/main" id="{84182292-B484-0E58-3D9F-A84E64E7162F}"/>
              </a:ext>
            </a:extLst>
          </p:cNvPr>
          <p:cNvPicPr>
            <a:picLocks noChangeAspect="1"/>
          </p:cNvPicPr>
          <p:nvPr/>
        </p:nvPicPr>
        <p:blipFill>
          <a:blip r:embed="rId4"/>
          <a:stretch>
            <a:fillRect/>
          </a:stretch>
        </p:blipFill>
        <p:spPr>
          <a:xfrm>
            <a:off x="7373172" y="665187"/>
            <a:ext cx="3035300" cy="2342596"/>
          </a:xfrm>
          <a:prstGeom prst="rect">
            <a:avLst/>
          </a:prstGeom>
        </p:spPr>
      </p:pic>
      <p:sp>
        <p:nvSpPr>
          <p:cNvPr id="19" name="TextBox 18">
            <a:extLst>
              <a:ext uri="{FF2B5EF4-FFF2-40B4-BE49-F238E27FC236}">
                <a16:creationId xmlns:a16="http://schemas.microsoft.com/office/drawing/2014/main" id="{2EF71CDC-4DEE-78BB-2A34-A57404BB863E}"/>
              </a:ext>
            </a:extLst>
          </p:cNvPr>
          <p:cNvSpPr txBox="1"/>
          <p:nvPr/>
        </p:nvSpPr>
        <p:spPr>
          <a:xfrm>
            <a:off x="6700432" y="3635641"/>
            <a:ext cx="5306835" cy="1893339"/>
          </a:xfrm>
          <a:prstGeom prst="rect">
            <a:avLst/>
          </a:prstGeom>
          <a:noFill/>
        </p:spPr>
        <p:txBody>
          <a:bodyPr wrap="square" rtlCol="0" anchor="ctr">
            <a:spAutoFit/>
          </a:bodyPr>
          <a:lstStyle/>
          <a:p>
            <a:pPr>
              <a:lnSpc>
                <a:spcPct val="150000"/>
              </a:lnSpc>
            </a:pPr>
            <a:r>
              <a:rPr lang="en-US" sz="1600" b="1" dirty="0">
                <a:solidFill>
                  <a:srgbClr val="1161A1"/>
                </a:solidFill>
                <a:latin typeface="Helvetica" pitchFamily="2" charset="0"/>
                <a:cs typeface="FUTURA MEDIUM" panose="020B0602020204020303" pitchFamily="34" charset="-79"/>
              </a:rPr>
              <a:t>Student Name</a:t>
            </a:r>
            <a:r>
              <a:rPr lang="en-US" sz="1600" b="1" dirty="0">
                <a:latin typeface="Helvetica" pitchFamily="2" charset="0"/>
                <a:cs typeface="Futura Medium" panose="020B0602020204020303" pitchFamily="34" charset="-79"/>
              </a:rPr>
              <a:t>: ROHIT GHOSH</a:t>
            </a:r>
          </a:p>
          <a:p>
            <a:pPr>
              <a:lnSpc>
                <a:spcPct val="150000"/>
              </a:lnSpc>
            </a:pPr>
            <a:r>
              <a:rPr lang="en-US" sz="1600" b="1" dirty="0">
                <a:latin typeface="Helvetica" pitchFamily="2" charset="0"/>
                <a:cs typeface="Futura Medium" panose="020B0602020204020303" pitchFamily="34" charset="-79"/>
              </a:rPr>
              <a:t>Student Roll No: MBA25084</a:t>
            </a:r>
          </a:p>
          <a:p>
            <a:pPr>
              <a:lnSpc>
                <a:spcPct val="150000"/>
              </a:lnSpc>
            </a:pPr>
            <a:r>
              <a:rPr lang="en-US" sz="1600" b="1" dirty="0">
                <a:solidFill>
                  <a:srgbClr val="1161A1"/>
                </a:solidFill>
                <a:latin typeface="Helvetica" pitchFamily="2" charset="0"/>
                <a:cs typeface="Futura Medium" panose="020B0602020204020303" pitchFamily="34" charset="-79"/>
              </a:rPr>
              <a:t>Summer Internship Company</a:t>
            </a:r>
            <a:r>
              <a:rPr lang="en-US" sz="1600" b="1" dirty="0">
                <a:latin typeface="Helvetica" pitchFamily="2" charset="0"/>
                <a:cs typeface="Futura Medium" panose="020B0602020204020303" pitchFamily="34" charset="-79"/>
              </a:rPr>
              <a:t>: PAYSPRINT PRIVATE LIMITED </a:t>
            </a:r>
          </a:p>
          <a:p>
            <a:pPr>
              <a:lnSpc>
                <a:spcPct val="150000"/>
              </a:lnSpc>
            </a:pPr>
            <a:r>
              <a:rPr lang="en-US" sz="1600" b="1" dirty="0">
                <a:solidFill>
                  <a:srgbClr val="1161A1"/>
                </a:solidFill>
                <a:latin typeface="Helvetica" pitchFamily="2" charset="0"/>
                <a:cs typeface="Futura Medium" panose="020B0602020204020303" pitchFamily="34" charset="-79"/>
              </a:rPr>
              <a:t>Summer Internship Role</a:t>
            </a:r>
            <a:r>
              <a:rPr lang="en-US" sz="1600" b="1" dirty="0">
                <a:latin typeface="Helvetica" pitchFamily="2" charset="0"/>
                <a:cs typeface="Futura Medium" panose="020B0602020204020303" pitchFamily="34" charset="-79"/>
              </a:rPr>
              <a:t>: OPERATIONS TRAINEE</a:t>
            </a:r>
            <a:endParaRPr lang="en-US" sz="1600" dirty="0">
              <a:latin typeface="Helvetica" pitchFamily="2" charset="0"/>
              <a:cs typeface="Futura Medium" panose="020B0602020204020303" pitchFamily="34" charset="-79"/>
            </a:endParaRPr>
          </a:p>
        </p:txBody>
      </p:sp>
      <p:sp>
        <p:nvSpPr>
          <p:cNvPr id="20" name="TextBox 19">
            <a:extLst>
              <a:ext uri="{FF2B5EF4-FFF2-40B4-BE49-F238E27FC236}">
                <a16:creationId xmlns:a16="http://schemas.microsoft.com/office/drawing/2014/main" id="{26DDC301-D212-3467-E2F9-C02D1FE38074}"/>
              </a:ext>
            </a:extLst>
          </p:cNvPr>
          <p:cNvSpPr txBox="1"/>
          <p:nvPr/>
        </p:nvSpPr>
        <p:spPr>
          <a:xfrm>
            <a:off x="13878232" y="1651819"/>
            <a:ext cx="184731" cy="369332"/>
          </a:xfrm>
          <a:prstGeom prst="rect">
            <a:avLst/>
          </a:prstGeom>
          <a:blipFill>
            <a:blip r:embed="rId5"/>
            <a:tile tx="0" ty="0" sx="100000" sy="100000" flip="none" algn="tl"/>
          </a:blipFill>
        </p:spPr>
        <p:txBody>
          <a:bodyPr wrap="none" rtlCol="0">
            <a:spAutoFit/>
          </a:bodyPr>
          <a:lstStyle/>
          <a:p>
            <a:endParaRPr lang="en-US" dirty="0"/>
          </a:p>
        </p:txBody>
      </p:sp>
      <p:sp>
        <p:nvSpPr>
          <p:cNvPr id="4" name="Trapezium 3">
            <a:extLst>
              <a:ext uri="{FF2B5EF4-FFF2-40B4-BE49-F238E27FC236}">
                <a16:creationId xmlns:a16="http://schemas.microsoft.com/office/drawing/2014/main" id="{97065CCD-1178-C6C5-9AA6-648B041DA40B}"/>
              </a:ext>
            </a:extLst>
          </p:cNvPr>
          <p:cNvSpPr/>
          <p:nvPr/>
        </p:nvSpPr>
        <p:spPr>
          <a:xfrm rot="3299366">
            <a:off x="11094109" y="5338270"/>
            <a:ext cx="1930400" cy="3089352"/>
          </a:xfrm>
          <a:prstGeom prst="trapezoid">
            <a:avLst/>
          </a:prstGeom>
          <a:solidFill>
            <a:srgbClr val="1161A1"/>
          </a:solidFill>
          <a:ln>
            <a:noFill/>
          </a:ln>
          <a:effectLst>
            <a:outerShdw blurRad="50800" dist="38100" dir="1554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C28569F-B605-9819-EF4D-3989FE8FEC54}"/>
              </a:ext>
            </a:extLst>
          </p:cNvPr>
          <p:cNvGrpSpPr/>
          <p:nvPr/>
        </p:nvGrpSpPr>
        <p:grpSpPr>
          <a:xfrm>
            <a:off x="8950188" y="-2192346"/>
            <a:ext cx="5282028" cy="4934168"/>
            <a:chOff x="8950188" y="-2192346"/>
            <a:chExt cx="5282028" cy="4934168"/>
          </a:xfrm>
        </p:grpSpPr>
        <p:sp>
          <p:nvSpPr>
            <p:cNvPr id="5" name="Trapezium 4">
              <a:extLst>
                <a:ext uri="{FF2B5EF4-FFF2-40B4-BE49-F238E27FC236}">
                  <a16:creationId xmlns:a16="http://schemas.microsoft.com/office/drawing/2014/main" id="{8AB19AF8-0B33-3CA5-66BC-6AD3DDB693B9}"/>
                </a:ext>
              </a:extLst>
            </p:cNvPr>
            <p:cNvSpPr/>
            <p:nvPr/>
          </p:nvSpPr>
          <p:spPr>
            <a:xfrm rot="8808242">
              <a:off x="10236318" y="-2192346"/>
              <a:ext cx="2947860" cy="4934168"/>
            </a:xfrm>
            <a:prstGeom prst="trapezoid">
              <a:avLst/>
            </a:prstGeom>
            <a:solidFill>
              <a:srgbClr val="1161A1"/>
            </a:solidFill>
            <a:ln>
              <a:noFill/>
            </a:ln>
            <a:effectLst>
              <a:outerShdw blurRad="50800" dist="38100" dir="81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rapezium 5">
              <a:extLst>
                <a:ext uri="{FF2B5EF4-FFF2-40B4-BE49-F238E27FC236}">
                  <a16:creationId xmlns:a16="http://schemas.microsoft.com/office/drawing/2014/main" id="{4F04A28E-4E97-566B-7507-C0846E82511F}"/>
                </a:ext>
              </a:extLst>
            </p:cNvPr>
            <p:cNvSpPr/>
            <p:nvPr/>
          </p:nvSpPr>
          <p:spPr>
            <a:xfrm rot="7574935">
              <a:off x="9911489" y="-2818620"/>
              <a:ext cx="3359426" cy="5282028"/>
            </a:xfrm>
            <a:prstGeom prst="trapezoid">
              <a:avLst/>
            </a:prstGeom>
            <a:solidFill>
              <a:srgbClr val="0A4474"/>
            </a:solidFill>
            <a:ln>
              <a:noFill/>
            </a:ln>
            <a:effectLst>
              <a:outerShdw blurRad="50800" dist="38100" dir="72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TextBox 7">
            <a:extLst>
              <a:ext uri="{FF2B5EF4-FFF2-40B4-BE49-F238E27FC236}">
                <a16:creationId xmlns:a16="http://schemas.microsoft.com/office/drawing/2014/main" id="{6C0ABB23-4A69-544E-628A-CAEB7EA05CE4}"/>
              </a:ext>
            </a:extLst>
          </p:cNvPr>
          <p:cNvSpPr txBox="1"/>
          <p:nvPr/>
        </p:nvSpPr>
        <p:spPr>
          <a:xfrm>
            <a:off x="12786852" y="340687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689815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CC444CC-9B4B-E16A-FAE2-47D6194289EE}"/>
              </a:ext>
            </a:extLst>
          </p:cNvPr>
          <p:cNvSpPr txBox="1"/>
          <p:nvPr/>
        </p:nvSpPr>
        <p:spPr>
          <a:xfrm>
            <a:off x="84843" y="6558061"/>
            <a:ext cx="3704733" cy="307777"/>
          </a:xfrm>
          <a:prstGeom prst="rect">
            <a:avLst/>
          </a:prstGeom>
          <a:noFill/>
        </p:spPr>
        <p:txBody>
          <a:bodyPr wrap="square" rtlCol="0">
            <a:spAutoFit/>
          </a:bodyPr>
          <a:lstStyle/>
          <a:p>
            <a:r>
              <a:rPr lang="en-US" sz="1400" dirty="0">
                <a:solidFill>
                  <a:schemeClr val="bg1"/>
                </a:solidFill>
              </a:rPr>
              <a:t>Summer Internship Presentation: Batch’2027</a:t>
            </a:r>
          </a:p>
        </p:txBody>
      </p:sp>
      <p:sp>
        <p:nvSpPr>
          <p:cNvPr id="8" name="TextBox 7">
            <a:extLst>
              <a:ext uri="{FF2B5EF4-FFF2-40B4-BE49-F238E27FC236}">
                <a16:creationId xmlns:a16="http://schemas.microsoft.com/office/drawing/2014/main" id="{A332ACA1-8843-BD33-EC24-11136CE3027D}"/>
              </a:ext>
            </a:extLst>
          </p:cNvPr>
          <p:cNvSpPr txBox="1"/>
          <p:nvPr/>
        </p:nvSpPr>
        <p:spPr>
          <a:xfrm>
            <a:off x="3874418" y="6565900"/>
            <a:ext cx="4930219" cy="307777"/>
          </a:xfrm>
          <a:prstGeom prst="rect">
            <a:avLst/>
          </a:prstGeom>
          <a:noFill/>
        </p:spPr>
        <p:txBody>
          <a:bodyPr wrap="square" rtlCol="0">
            <a:spAutoFit/>
          </a:bodyPr>
          <a:lstStyle/>
          <a:p>
            <a:pPr algn="ctr"/>
            <a:r>
              <a:rPr lang="en-US" sz="1400" dirty="0">
                <a:solidFill>
                  <a:schemeClr val="bg1"/>
                </a:solidFill>
              </a:rPr>
              <a:t>Indian Institute of Management, Sirmaur</a:t>
            </a:r>
          </a:p>
        </p:txBody>
      </p:sp>
      <p:sp>
        <p:nvSpPr>
          <p:cNvPr id="11" name="Slide Number Placeholder 10">
            <a:extLst>
              <a:ext uri="{FF2B5EF4-FFF2-40B4-BE49-F238E27FC236}">
                <a16:creationId xmlns:a16="http://schemas.microsoft.com/office/drawing/2014/main" id="{A73831FF-FE5A-CC02-0A9C-66A6833A5315}"/>
              </a:ext>
            </a:extLst>
          </p:cNvPr>
          <p:cNvSpPr>
            <a:spLocks noGrp="1"/>
          </p:cNvSpPr>
          <p:nvPr>
            <p:ph type="sldNum" sz="quarter" idx="12"/>
          </p:nvPr>
        </p:nvSpPr>
        <p:spPr>
          <a:xfrm>
            <a:off x="9448800" y="6492874"/>
            <a:ext cx="2743200" cy="365125"/>
          </a:xfrm>
        </p:spPr>
        <p:txBody>
          <a:bodyPr/>
          <a:lstStyle/>
          <a:p>
            <a:fld id="{5A0082F7-D4AD-0B42-A975-BF266F6466AA}" type="slidenum">
              <a:rPr lang="en-US" smtClean="0"/>
              <a:t>2</a:t>
            </a:fld>
            <a:endParaRPr lang="en-US"/>
          </a:p>
        </p:txBody>
      </p:sp>
      <p:sp>
        <p:nvSpPr>
          <p:cNvPr id="14" name="Rectangle 13">
            <a:extLst>
              <a:ext uri="{FF2B5EF4-FFF2-40B4-BE49-F238E27FC236}">
                <a16:creationId xmlns:a16="http://schemas.microsoft.com/office/drawing/2014/main" id="{030406BD-CB52-4624-5373-66093C19D761}"/>
              </a:ext>
            </a:extLst>
          </p:cNvPr>
          <p:cNvSpPr/>
          <p:nvPr/>
        </p:nvSpPr>
        <p:spPr>
          <a:xfrm>
            <a:off x="0" y="1381507"/>
            <a:ext cx="12192000" cy="2219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dirty="0"/>
              <a:t>State-Driven Partner Onboarding &amp; Lifecycle Automation System </a:t>
            </a:r>
            <a:endParaRPr lang="en-IN" sz="4800" b="1" dirty="0"/>
          </a:p>
        </p:txBody>
      </p:sp>
      <p:sp>
        <p:nvSpPr>
          <p:cNvPr id="15" name="TextBox 14">
            <a:extLst>
              <a:ext uri="{FF2B5EF4-FFF2-40B4-BE49-F238E27FC236}">
                <a16:creationId xmlns:a16="http://schemas.microsoft.com/office/drawing/2014/main" id="{C5EDF6F7-4669-A162-91E9-87F80AFA15CB}"/>
              </a:ext>
            </a:extLst>
          </p:cNvPr>
          <p:cNvSpPr txBox="1"/>
          <p:nvPr/>
        </p:nvSpPr>
        <p:spPr>
          <a:xfrm>
            <a:off x="3657600" y="3650538"/>
            <a:ext cx="6327648" cy="646331"/>
          </a:xfrm>
          <a:prstGeom prst="rect">
            <a:avLst/>
          </a:prstGeom>
          <a:noFill/>
        </p:spPr>
        <p:txBody>
          <a:bodyPr wrap="square" rtlCol="0">
            <a:spAutoFit/>
          </a:bodyPr>
          <a:lstStyle/>
          <a:p>
            <a:r>
              <a:rPr lang="en-IN" dirty="0">
                <a:solidFill>
                  <a:srgbClr val="0A4474"/>
                </a:solidFill>
                <a:latin typeface="Helvetica" pitchFamily="2" charset="0"/>
              </a:rPr>
              <a:t>Project Manager Name: Akshay Kumar Mishra</a:t>
            </a:r>
          </a:p>
          <a:p>
            <a:r>
              <a:rPr lang="en-IN" dirty="0">
                <a:solidFill>
                  <a:srgbClr val="0A4474"/>
                </a:solidFill>
                <a:latin typeface="Helvetica" pitchFamily="2" charset="0"/>
              </a:rPr>
              <a:t>Project Manager’s LinkedIn Profile: </a:t>
            </a:r>
            <a:r>
              <a:rPr lang="en-IN" dirty="0">
                <a:solidFill>
                  <a:srgbClr val="0A4474"/>
                </a:solidFill>
                <a:latin typeface="Helvetica" pitchFamily="2" charset="0"/>
                <a:hlinkClick r:id="rId2"/>
              </a:rPr>
              <a:t>Akshay Kumar Mishra</a:t>
            </a:r>
            <a:endParaRPr lang="en-IN" dirty="0">
              <a:solidFill>
                <a:srgbClr val="0A4474"/>
              </a:solidFill>
              <a:latin typeface="Helvetica" pitchFamily="2" charset="0"/>
            </a:endParaRPr>
          </a:p>
        </p:txBody>
      </p:sp>
    </p:spTree>
    <p:extLst>
      <p:ext uri="{BB962C8B-B14F-4D97-AF65-F5344CB8AC3E}">
        <p14:creationId xmlns:p14="http://schemas.microsoft.com/office/powerpoint/2010/main" val="3038468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180034-4E57-3EED-C932-8ACF311E27DC}"/>
              </a:ext>
            </a:extLst>
          </p:cNvPr>
          <p:cNvSpPr/>
          <p:nvPr/>
        </p:nvSpPr>
        <p:spPr>
          <a:xfrm>
            <a:off x="723900" y="1151466"/>
            <a:ext cx="10744200" cy="520594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AD00A3-442C-D9AF-7242-6D67CC23A306}"/>
              </a:ext>
            </a:extLst>
          </p:cNvPr>
          <p:cNvSpPr>
            <a:spLocks noGrp="1"/>
          </p:cNvSpPr>
          <p:nvPr>
            <p:ph type="title"/>
          </p:nvPr>
        </p:nvSpPr>
        <p:spPr>
          <a:xfrm>
            <a:off x="838200" y="365126"/>
            <a:ext cx="9867900" cy="605896"/>
          </a:xfrm>
        </p:spPr>
        <p:txBody>
          <a:bodyPr anchor="t"/>
          <a:lstStyle/>
          <a:p>
            <a:pPr>
              <a:lnSpc>
                <a:spcPct val="100000"/>
              </a:lnSpc>
            </a:pPr>
            <a:r>
              <a:rPr lang="en-US" sz="3200" dirty="0">
                <a:solidFill>
                  <a:srgbClr val="0A4474"/>
                </a:solidFill>
                <a:latin typeface="Helvetica" pitchFamily="2" charset="0"/>
              </a:rPr>
              <a:t>Project Title</a:t>
            </a:r>
          </a:p>
        </p:txBody>
      </p:sp>
      <p:sp>
        <p:nvSpPr>
          <p:cNvPr id="3" name="Content Placeholder 2">
            <a:extLst>
              <a:ext uri="{FF2B5EF4-FFF2-40B4-BE49-F238E27FC236}">
                <a16:creationId xmlns:a16="http://schemas.microsoft.com/office/drawing/2014/main" id="{C9CE4721-619C-27E4-0895-2A5DFDDAB2C0}"/>
              </a:ext>
            </a:extLst>
          </p:cNvPr>
          <p:cNvSpPr>
            <a:spLocks noGrp="1"/>
          </p:cNvSpPr>
          <p:nvPr>
            <p:ph idx="1"/>
          </p:nvPr>
        </p:nvSpPr>
        <p:spPr>
          <a:xfrm>
            <a:off x="838200" y="1253331"/>
            <a:ext cx="10515600" cy="4351338"/>
          </a:xfrm>
        </p:spPr>
        <p:txBody>
          <a:bodyPr/>
          <a:lstStyle/>
          <a:p>
            <a:r>
              <a:rPr lang="en-IN" sz="2400" b="1" dirty="0"/>
              <a:t>Project Description:</a:t>
            </a:r>
            <a:r>
              <a:rPr lang="en-IN" sz="2400" dirty="0"/>
              <a:t> The project involved designing, deploying, and documenting an automated, state-driven workflow orchestration system to streamline the end-to-end partner integration lifecycle. By leveraging an integration platform to parse incoming communications, map them to a relational tracking repository, and automatically trigger conditional actions (such as generating drafts, tracking UAT sign-offs, and managing escalation schedules), the system replaces highly manual processes with a structured, visible, and error-resistant digital framework. </a:t>
            </a:r>
          </a:p>
          <a:p>
            <a:r>
              <a:rPr lang="en-IN" sz="2400" b="1" dirty="0"/>
              <a:t>One-Line Objective:</a:t>
            </a:r>
            <a:r>
              <a:rPr lang="en-IN" sz="2400" dirty="0"/>
              <a:t> To architect and implement an automated email-driven workflow system using n8n and Google Sheets that orchestrates partner onboarding, UAT tracking, and live transitions while eliminating manual cross-functional handoff friction.</a:t>
            </a:r>
          </a:p>
        </p:txBody>
      </p:sp>
      <p:sp>
        <p:nvSpPr>
          <p:cNvPr id="7" name="TextBox 6">
            <a:extLst>
              <a:ext uri="{FF2B5EF4-FFF2-40B4-BE49-F238E27FC236}">
                <a16:creationId xmlns:a16="http://schemas.microsoft.com/office/drawing/2014/main" id="{BCC444CC-9B4B-E16A-FAE2-47D6194289EE}"/>
              </a:ext>
            </a:extLst>
          </p:cNvPr>
          <p:cNvSpPr txBox="1"/>
          <p:nvPr/>
        </p:nvSpPr>
        <p:spPr>
          <a:xfrm>
            <a:off x="84843" y="6558061"/>
            <a:ext cx="3704733" cy="307777"/>
          </a:xfrm>
          <a:prstGeom prst="rect">
            <a:avLst/>
          </a:prstGeom>
          <a:noFill/>
        </p:spPr>
        <p:txBody>
          <a:bodyPr wrap="square" rtlCol="0">
            <a:spAutoFit/>
          </a:bodyPr>
          <a:lstStyle/>
          <a:p>
            <a:r>
              <a:rPr lang="en-US" sz="1400" dirty="0">
                <a:solidFill>
                  <a:schemeClr val="bg1"/>
                </a:solidFill>
              </a:rPr>
              <a:t>Summer Internship Presentation: Batch’2027</a:t>
            </a:r>
          </a:p>
        </p:txBody>
      </p:sp>
      <p:sp>
        <p:nvSpPr>
          <p:cNvPr id="8" name="TextBox 7">
            <a:extLst>
              <a:ext uri="{FF2B5EF4-FFF2-40B4-BE49-F238E27FC236}">
                <a16:creationId xmlns:a16="http://schemas.microsoft.com/office/drawing/2014/main" id="{A332ACA1-8843-BD33-EC24-11136CE3027D}"/>
              </a:ext>
            </a:extLst>
          </p:cNvPr>
          <p:cNvSpPr txBox="1"/>
          <p:nvPr/>
        </p:nvSpPr>
        <p:spPr>
          <a:xfrm>
            <a:off x="3874418" y="6565900"/>
            <a:ext cx="4930219" cy="307777"/>
          </a:xfrm>
          <a:prstGeom prst="rect">
            <a:avLst/>
          </a:prstGeom>
          <a:noFill/>
        </p:spPr>
        <p:txBody>
          <a:bodyPr wrap="square" rtlCol="0">
            <a:spAutoFit/>
          </a:bodyPr>
          <a:lstStyle/>
          <a:p>
            <a:pPr algn="ctr"/>
            <a:r>
              <a:rPr lang="en-US" sz="1400" dirty="0">
                <a:solidFill>
                  <a:schemeClr val="bg1"/>
                </a:solidFill>
              </a:rPr>
              <a:t>Indian Institute of Management, Sirmaur</a:t>
            </a:r>
          </a:p>
        </p:txBody>
      </p:sp>
      <p:sp>
        <p:nvSpPr>
          <p:cNvPr id="11" name="Slide Number Placeholder 10">
            <a:extLst>
              <a:ext uri="{FF2B5EF4-FFF2-40B4-BE49-F238E27FC236}">
                <a16:creationId xmlns:a16="http://schemas.microsoft.com/office/drawing/2014/main" id="{A73831FF-FE5A-CC02-0A9C-66A6833A5315}"/>
              </a:ext>
            </a:extLst>
          </p:cNvPr>
          <p:cNvSpPr>
            <a:spLocks noGrp="1"/>
          </p:cNvSpPr>
          <p:nvPr>
            <p:ph type="sldNum" sz="quarter" idx="12"/>
          </p:nvPr>
        </p:nvSpPr>
        <p:spPr>
          <a:xfrm>
            <a:off x="9448800" y="6492874"/>
            <a:ext cx="2743200" cy="365125"/>
          </a:xfrm>
        </p:spPr>
        <p:txBody>
          <a:bodyPr/>
          <a:lstStyle/>
          <a:p>
            <a:fld id="{5A0082F7-D4AD-0B42-A975-BF266F6466AA}" type="slidenum">
              <a:rPr lang="en-US" smtClean="0"/>
              <a:t>3</a:t>
            </a:fld>
            <a:endParaRPr lang="en-US"/>
          </a:p>
        </p:txBody>
      </p:sp>
    </p:spTree>
    <p:extLst>
      <p:ext uri="{BB962C8B-B14F-4D97-AF65-F5344CB8AC3E}">
        <p14:creationId xmlns:p14="http://schemas.microsoft.com/office/powerpoint/2010/main" val="528112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180034-4E57-3EED-C932-8ACF311E27DC}"/>
              </a:ext>
            </a:extLst>
          </p:cNvPr>
          <p:cNvSpPr/>
          <p:nvPr/>
        </p:nvSpPr>
        <p:spPr>
          <a:xfrm>
            <a:off x="723900" y="1151466"/>
            <a:ext cx="10744200" cy="520594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AD00A3-442C-D9AF-7242-6D67CC23A306}"/>
              </a:ext>
            </a:extLst>
          </p:cNvPr>
          <p:cNvSpPr>
            <a:spLocks noGrp="1"/>
          </p:cNvSpPr>
          <p:nvPr>
            <p:ph type="title"/>
          </p:nvPr>
        </p:nvSpPr>
        <p:spPr>
          <a:xfrm>
            <a:off x="838200" y="365126"/>
            <a:ext cx="9867900" cy="605896"/>
          </a:xfrm>
        </p:spPr>
        <p:txBody>
          <a:bodyPr anchor="t"/>
          <a:lstStyle/>
          <a:p>
            <a:pPr>
              <a:lnSpc>
                <a:spcPct val="100000"/>
              </a:lnSpc>
            </a:pPr>
            <a:r>
              <a:rPr lang="en-US" sz="3200" dirty="0">
                <a:solidFill>
                  <a:srgbClr val="0A4474"/>
                </a:solidFill>
                <a:latin typeface="Helvetica" pitchFamily="2" charset="0"/>
              </a:rPr>
              <a:t>Problem Description</a:t>
            </a:r>
          </a:p>
        </p:txBody>
      </p:sp>
      <p:sp>
        <p:nvSpPr>
          <p:cNvPr id="3" name="Content Placeholder 2">
            <a:extLst>
              <a:ext uri="{FF2B5EF4-FFF2-40B4-BE49-F238E27FC236}">
                <a16:creationId xmlns:a16="http://schemas.microsoft.com/office/drawing/2014/main" id="{C9CE4721-619C-27E4-0895-2A5DFDDAB2C0}"/>
              </a:ext>
            </a:extLst>
          </p:cNvPr>
          <p:cNvSpPr>
            <a:spLocks noGrp="1"/>
          </p:cNvSpPr>
          <p:nvPr>
            <p:ph idx="1"/>
          </p:nvPr>
        </p:nvSpPr>
        <p:spPr>
          <a:xfrm>
            <a:off x="838200" y="1253331"/>
            <a:ext cx="10515600" cy="4351338"/>
          </a:xfrm>
        </p:spPr>
        <p:txBody>
          <a:bodyPr/>
          <a:lstStyle/>
          <a:p>
            <a:r>
              <a:rPr lang="en-IN" sz="1200" b="1" dirty="0"/>
              <a:t>Manual Operational Overhead:</a:t>
            </a:r>
            <a:r>
              <a:rPr lang="en-IN" sz="1200" dirty="0"/>
              <a:t> The partner onboarding pipeline heavily relied on human intervention to parse inbound partner requests, track technical milestones, and execute routine communications, leading to severe resource bottlenecks. </a:t>
            </a:r>
          </a:p>
          <a:p>
            <a:r>
              <a:rPr lang="en-IN" sz="1200" b="1" dirty="0"/>
              <a:t>Lax Visibility &amp; Tracking Mismatches:</a:t>
            </a:r>
            <a:r>
              <a:rPr lang="en-IN" sz="1200" dirty="0"/>
              <a:t> Lifecycle tracking lacked central transparency, making it difficult to immediately identify exactly where a partner was stalled (e.g., pending UAT requirements vs. live credentials) without manual email thread audits. </a:t>
            </a:r>
          </a:p>
          <a:p>
            <a:r>
              <a:rPr lang="en-IN" sz="1200" b="1" dirty="0"/>
              <a:t>Fragmented Follow-up &amp; Escalation Management:</a:t>
            </a:r>
            <a:r>
              <a:rPr lang="en-IN" sz="1200" dirty="0"/>
              <a:t> Follow-ups for unresponsive partners were performed ad-hoc, lacking a disciplined, time-bound progression model (e.g., escalating precisely at Day 3, Day 5, and Day 7+) to safeguard integration momentum. </a:t>
            </a:r>
          </a:p>
          <a:p>
            <a:r>
              <a:rPr lang="en-IN" sz="1200" b="1" dirty="0"/>
              <a:t>Fragile Process Standardization:</a:t>
            </a:r>
            <a:r>
              <a:rPr lang="en-IN" sz="1200" dirty="0"/>
              <a:t> Handoff protocols between the Onboarding Team, Client Support Team, and Partners lacked explicit structure, making the data pipeline highly vulnerable to missing fields, format variations, and disconnected primary keys</a:t>
            </a:r>
          </a:p>
          <a:p>
            <a:endParaRPr lang="en-US" sz="1200" dirty="0">
              <a:solidFill>
                <a:schemeClr val="bg1">
                  <a:lumMod val="65000"/>
                </a:schemeClr>
              </a:solidFill>
            </a:endParaRPr>
          </a:p>
        </p:txBody>
      </p:sp>
      <p:sp>
        <p:nvSpPr>
          <p:cNvPr id="7" name="TextBox 6">
            <a:extLst>
              <a:ext uri="{FF2B5EF4-FFF2-40B4-BE49-F238E27FC236}">
                <a16:creationId xmlns:a16="http://schemas.microsoft.com/office/drawing/2014/main" id="{BCC444CC-9B4B-E16A-FAE2-47D6194289EE}"/>
              </a:ext>
            </a:extLst>
          </p:cNvPr>
          <p:cNvSpPr txBox="1"/>
          <p:nvPr/>
        </p:nvSpPr>
        <p:spPr>
          <a:xfrm>
            <a:off x="84843" y="6558061"/>
            <a:ext cx="3704733" cy="307777"/>
          </a:xfrm>
          <a:prstGeom prst="rect">
            <a:avLst/>
          </a:prstGeom>
          <a:noFill/>
        </p:spPr>
        <p:txBody>
          <a:bodyPr wrap="square" rtlCol="0">
            <a:spAutoFit/>
          </a:bodyPr>
          <a:lstStyle/>
          <a:p>
            <a:r>
              <a:rPr lang="en-US" sz="1400" dirty="0">
                <a:solidFill>
                  <a:schemeClr val="bg1"/>
                </a:solidFill>
              </a:rPr>
              <a:t>Summer Internship Presentation: Batch’2027</a:t>
            </a:r>
          </a:p>
        </p:txBody>
      </p:sp>
      <p:sp>
        <p:nvSpPr>
          <p:cNvPr id="8" name="TextBox 7">
            <a:extLst>
              <a:ext uri="{FF2B5EF4-FFF2-40B4-BE49-F238E27FC236}">
                <a16:creationId xmlns:a16="http://schemas.microsoft.com/office/drawing/2014/main" id="{A332ACA1-8843-BD33-EC24-11136CE3027D}"/>
              </a:ext>
            </a:extLst>
          </p:cNvPr>
          <p:cNvSpPr txBox="1"/>
          <p:nvPr/>
        </p:nvSpPr>
        <p:spPr>
          <a:xfrm>
            <a:off x="3874418" y="6565900"/>
            <a:ext cx="4930219" cy="307777"/>
          </a:xfrm>
          <a:prstGeom prst="rect">
            <a:avLst/>
          </a:prstGeom>
          <a:noFill/>
        </p:spPr>
        <p:txBody>
          <a:bodyPr wrap="square" rtlCol="0">
            <a:spAutoFit/>
          </a:bodyPr>
          <a:lstStyle/>
          <a:p>
            <a:pPr algn="ctr"/>
            <a:r>
              <a:rPr lang="en-US" sz="1400" dirty="0">
                <a:solidFill>
                  <a:schemeClr val="bg1"/>
                </a:solidFill>
              </a:rPr>
              <a:t>Indian Institute of Management, Sirmaur</a:t>
            </a:r>
          </a:p>
        </p:txBody>
      </p:sp>
      <p:sp>
        <p:nvSpPr>
          <p:cNvPr id="11" name="Slide Number Placeholder 10">
            <a:extLst>
              <a:ext uri="{FF2B5EF4-FFF2-40B4-BE49-F238E27FC236}">
                <a16:creationId xmlns:a16="http://schemas.microsoft.com/office/drawing/2014/main" id="{A73831FF-FE5A-CC02-0A9C-66A6833A5315}"/>
              </a:ext>
            </a:extLst>
          </p:cNvPr>
          <p:cNvSpPr>
            <a:spLocks noGrp="1"/>
          </p:cNvSpPr>
          <p:nvPr>
            <p:ph type="sldNum" sz="quarter" idx="12"/>
          </p:nvPr>
        </p:nvSpPr>
        <p:spPr>
          <a:xfrm>
            <a:off x="9448800" y="6492874"/>
            <a:ext cx="2743200" cy="365125"/>
          </a:xfrm>
        </p:spPr>
        <p:txBody>
          <a:bodyPr/>
          <a:lstStyle/>
          <a:p>
            <a:fld id="{5A0082F7-D4AD-0B42-A975-BF266F6466AA}" type="slidenum">
              <a:rPr lang="en-US" smtClean="0"/>
              <a:t>4</a:t>
            </a:fld>
            <a:endParaRPr lang="en-US"/>
          </a:p>
        </p:txBody>
      </p:sp>
      <p:graphicFrame>
        <p:nvGraphicFramePr>
          <p:cNvPr id="4" name="Table 3">
            <a:extLst>
              <a:ext uri="{FF2B5EF4-FFF2-40B4-BE49-F238E27FC236}">
                <a16:creationId xmlns:a16="http://schemas.microsoft.com/office/drawing/2014/main" id="{A471060D-36EA-A077-D228-3EC3D8872367}"/>
              </a:ext>
            </a:extLst>
          </p:cNvPr>
          <p:cNvGraphicFramePr>
            <a:graphicFrameLocks noGrp="1"/>
          </p:cNvGraphicFramePr>
          <p:nvPr>
            <p:extLst>
              <p:ext uri="{D42A27DB-BD31-4B8C-83A1-F6EECF244321}">
                <p14:modId xmlns:p14="http://schemas.microsoft.com/office/powerpoint/2010/main" val="1151418196"/>
              </p:ext>
            </p:extLst>
          </p:nvPr>
        </p:nvGraphicFramePr>
        <p:xfrm>
          <a:off x="723900" y="3196749"/>
          <a:ext cx="10515600" cy="2407920"/>
        </p:xfrm>
        <a:graphic>
          <a:graphicData uri="http://schemas.openxmlformats.org/drawingml/2006/table">
            <a:tbl>
              <a:tblPr/>
              <a:tblGrid>
                <a:gridCol w="3505200">
                  <a:extLst>
                    <a:ext uri="{9D8B030D-6E8A-4147-A177-3AD203B41FA5}">
                      <a16:colId xmlns:a16="http://schemas.microsoft.com/office/drawing/2014/main" val="3192712944"/>
                    </a:ext>
                  </a:extLst>
                </a:gridCol>
                <a:gridCol w="3505200">
                  <a:extLst>
                    <a:ext uri="{9D8B030D-6E8A-4147-A177-3AD203B41FA5}">
                      <a16:colId xmlns:a16="http://schemas.microsoft.com/office/drawing/2014/main" val="3221621301"/>
                    </a:ext>
                  </a:extLst>
                </a:gridCol>
                <a:gridCol w="3505200">
                  <a:extLst>
                    <a:ext uri="{9D8B030D-6E8A-4147-A177-3AD203B41FA5}">
                      <a16:colId xmlns:a16="http://schemas.microsoft.com/office/drawing/2014/main" val="3266967192"/>
                    </a:ext>
                  </a:extLst>
                </a:gridCol>
              </a:tblGrid>
              <a:tr h="0">
                <a:tc>
                  <a:txBody>
                    <a:bodyPr/>
                    <a:lstStyle/>
                    <a:p>
                      <a:pPr rtl="0">
                        <a:buNone/>
                      </a:pPr>
                      <a:r>
                        <a:rPr lang="en-IN" b="1">
                          <a:solidFill>
                            <a:srgbClr val="1F1F1F"/>
                          </a:solidFill>
                          <a:effectLst/>
                          <a:latin typeface="Google Sans Text"/>
                        </a:rPr>
                        <a:t>Operational Aspect</a:t>
                      </a:r>
                      <a:endParaRPr lang="en-IN">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rtl="0">
                        <a:buNone/>
                      </a:pPr>
                      <a:r>
                        <a:rPr lang="en-IN" b="1" dirty="0">
                          <a:solidFill>
                            <a:srgbClr val="1F1F1F"/>
                          </a:solidFill>
                          <a:effectLst/>
                          <a:latin typeface="Google Sans Text"/>
                        </a:rPr>
                        <a:t>Manual State Challenges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Impact on Business Teams</a:t>
                      </a:r>
                      <a:endParaRPr lang="en-IN">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14604731"/>
                  </a:ext>
                </a:extLst>
              </a:tr>
              <a:tr h="0">
                <a:tc>
                  <a:txBody>
                    <a:bodyPr/>
                    <a:lstStyle/>
                    <a:p>
                      <a:pPr rtl="0">
                        <a:buNone/>
                      </a:pPr>
                      <a:r>
                        <a:rPr lang="en-IN" b="1">
                          <a:solidFill>
                            <a:srgbClr val="1F1F1F"/>
                          </a:solidFill>
                          <a:effectLst/>
                          <a:latin typeface="Google Sans Text"/>
                        </a:rPr>
                        <a:t>Data Integrity</a:t>
                      </a:r>
                      <a:endParaRPr lang="en-IN">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Manual data entries, row merging, column name variations. </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Breaks data pipelines; causes database mismatch. </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240652064"/>
                  </a:ext>
                </a:extLst>
              </a:tr>
              <a:tr h="0">
                <a:tc>
                  <a:txBody>
                    <a:bodyPr/>
                    <a:lstStyle/>
                    <a:p>
                      <a:pPr rtl="0">
                        <a:buNone/>
                      </a:pPr>
                      <a:r>
                        <a:rPr lang="en-IN" b="1">
                          <a:solidFill>
                            <a:srgbClr val="1F1F1F"/>
                          </a:solidFill>
                          <a:effectLst/>
                          <a:latin typeface="Google Sans Text"/>
                        </a:rPr>
                        <a:t>Milestone Monitoring</a:t>
                      </a:r>
                      <a:endParaRPr lang="en-IN">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No automated state changes (</a:t>
                      </a:r>
                      <a:r>
                        <a:rPr lang="en-IN" b="0" i="0">
                          <a:solidFill>
                            <a:srgbClr val="1F1F1F"/>
                          </a:solidFill>
                          <a:effectLst/>
                          <a:latin typeface="Google Sans Text"/>
                        </a:rPr>
                        <a:t>stage_flag</a:t>
                      </a:r>
                      <a:r>
                        <a:rPr lang="en-IN">
                          <a:solidFill>
                            <a:srgbClr val="1F1F1F"/>
                          </a:solidFill>
                          <a:effectLst/>
                          <a:latin typeface="Google Sans Text"/>
                        </a:rPr>
                        <a:t> tracking). </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Missed target timelines for UAT and Go-Live. </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181369834"/>
                  </a:ext>
                </a:extLst>
              </a:tr>
              <a:tr h="0">
                <a:tc>
                  <a:txBody>
                    <a:bodyPr/>
                    <a:lstStyle/>
                    <a:p>
                      <a:pPr rtl="0">
                        <a:buNone/>
                      </a:pPr>
                      <a:r>
                        <a:rPr lang="en-IN" b="1">
                          <a:solidFill>
                            <a:srgbClr val="1F1F1F"/>
                          </a:solidFill>
                          <a:effectLst/>
                          <a:latin typeface="Google Sans Text"/>
                        </a:rPr>
                        <a:t>Communication</a:t>
                      </a:r>
                      <a:endParaRPr lang="en-IN">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Crafting standalone emails repeatedly for every product tier. </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rtl="0">
                        <a:buNone/>
                      </a:pPr>
                      <a:r>
                        <a:rPr lang="en-IN" dirty="0">
                          <a:solidFill>
                            <a:srgbClr val="1F1F1F"/>
                          </a:solidFill>
                          <a:effectLst/>
                          <a:latin typeface="Google Sans Text"/>
                        </a:rPr>
                        <a:t>High processing time per partner account. </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477215915"/>
                  </a:ext>
                </a:extLst>
              </a:tr>
            </a:tbl>
          </a:graphicData>
        </a:graphic>
      </p:graphicFrame>
    </p:spTree>
    <p:extLst>
      <p:ext uri="{BB962C8B-B14F-4D97-AF65-F5344CB8AC3E}">
        <p14:creationId xmlns:p14="http://schemas.microsoft.com/office/powerpoint/2010/main" val="2331363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180034-4E57-3EED-C932-8ACF311E27DC}"/>
              </a:ext>
            </a:extLst>
          </p:cNvPr>
          <p:cNvSpPr/>
          <p:nvPr/>
        </p:nvSpPr>
        <p:spPr>
          <a:xfrm>
            <a:off x="723900" y="1151466"/>
            <a:ext cx="10744200" cy="520594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AD00A3-442C-D9AF-7242-6D67CC23A306}"/>
              </a:ext>
            </a:extLst>
          </p:cNvPr>
          <p:cNvSpPr>
            <a:spLocks noGrp="1"/>
          </p:cNvSpPr>
          <p:nvPr>
            <p:ph type="title"/>
          </p:nvPr>
        </p:nvSpPr>
        <p:spPr>
          <a:xfrm>
            <a:off x="838200" y="365126"/>
            <a:ext cx="9867900" cy="605896"/>
          </a:xfrm>
        </p:spPr>
        <p:txBody>
          <a:bodyPr anchor="t"/>
          <a:lstStyle/>
          <a:p>
            <a:pPr>
              <a:lnSpc>
                <a:spcPct val="100000"/>
              </a:lnSpc>
            </a:pPr>
            <a:r>
              <a:rPr lang="en-US" sz="3200" dirty="0">
                <a:solidFill>
                  <a:srgbClr val="0A4474"/>
                </a:solidFill>
                <a:latin typeface="Helvetica" pitchFamily="2" charset="0"/>
              </a:rPr>
              <a:t>Your Approach/ Work</a:t>
            </a:r>
          </a:p>
        </p:txBody>
      </p:sp>
      <p:sp>
        <p:nvSpPr>
          <p:cNvPr id="3" name="Content Placeholder 2">
            <a:extLst>
              <a:ext uri="{FF2B5EF4-FFF2-40B4-BE49-F238E27FC236}">
                <a16:creationId xmlns:a16="http://schemas.microsoft.com/office/drawing/2014/main" id="{C9CE4721-619C-27E4-0895-2A5DFDDAB2C0}"/>
              </a:ext>
            </a:extLst>
          </p:cNvPr>
          <p:cNvSpPr>
            <a:spLocks noGrp="1"/>
          </p:cNvSpPr>
          <p:nvPr>
            <p:ph idx="1"/>
          </p:nvPr>
        </p:nvSpPr>
        <p:spPr>
          <a:xfrm>
            <a:off x="838200" y="1253331"/>
            <a:ext cx="10515600" cy="4351338"/>
          </a:xfrm>
        </p:spPr>
        <p:txBody>
          <a:bodyPr/>
          <a:lstStyle/>
          <a:p>
            <a:pPr marL="0" indent="0">
              <a:buNone/>
            </a:pPr>
            <a:r>
              <a:rPr lang="en-IN" sz="2000" dirty="0"/>
              <a:t>Technical Implementation &amp; Core Architecture</a:t>
            </a:r>
            <a:endParaRPr lang="en-IN" sz="1600" b="1" dirty="0"/>
          </a:p>
          <a:p>
            <a:r>
              <a:rPr lang="en-IN" sz="1600" b="1" dirty="0"/>
              <a:t>Environment Architecture Setup:</a:t>
            </a:r>
            <a:r>
              <a:rPr lang="en-IN" sz="1600" dirty="0"/>
              <a:t> Built out the foundational infrastructure by establishing a secure project on Google Cloud Platform, activating the necessary APIs (Gmail, Sheets, Drive), and setting up OAuth 2.0 user-scoped consent states. </a:t>
            </a:r>
          </a:p>
          <a:p>
            <a:r>
              <a:rPr lang="en-IN" sz="1600" b="1" dirty="0"/>
              <a:t>Engine Core Deployment:</a:t>
            </a:r>
            <a:r>
              <a:rPr lang="en-IN" sz="1600" dirty="0"/>
              <a:t> Configured a local environment on Windows running an independent Node.js ecosystem to host, run, and scale global automated routines via the n8n orchestration core. </a:t>
            </a:r>
          </a:p>
          <a:p>
            <a:r>
              <a:rPr lang="en-IN" sz="1600" b="1" dirty="0"/>
              <a:t>Database Relational Design:</a:t>
            </a:r>
            <a:r>
              <a:rPr lang="en-IN" sz="1600" dirty="0"/>
              <a:t> Architected a structured, multi-tab spreadsheet to serve as the project's transaction database, incorporating rigid schemas for raw onboarding data, partner profiles, team routing rules, and master product sign-off definitions. </a:t>
            </a:r>
          </a:p>
          <a:p>
            <a:r>
              <a:rPr lang="en-IN" sz="1600" b="1" dirty="0"/>
              <a:t>State-Driven Workflow Engineering:</a:t>
            </a:r>
            <a:r>
              <a:rPr lang="en-IN" sz="1600" dirty="0"/>
              <a:t> Imported, optimized, and mapped multi-stage workflows within the orchestration engine to handle targeted state changes via transactional </a:t>
            </a:r>
            <a:r>
              <a:rPr lang="en-IN" sz="1600" dirty="0" err="1"/>
              <a:t>stage_flag</a:t>
            </a:r>
            <a:r>
              <a:rPr lang="en-IN" sz="1600" dirty="0"/>
              <a:t> values: </a:t>
            </a:r>
          </a:p>
          <a:p>
            <a:pPr lvl="1"/>
            <a:r>
              <a:rPr lang="en-IN" sz="1600" i="1" dirty="0"/>
              <a:t>Workflow 1 (New Email &amp; Credentials):</a:t>
            </a:r>
            <a:r>
              <a:rPr lang="en-IN" sz="1600" dirty="0"/>
              <a:t> Auto-checks incoming mails, updates records to UAT_REQUIREMENT_SENT, and creates communication drafts. </a:t>
            </a:r>
          </a:p>
          <a:p>
            <a:pPr lvl="1"/>
            <a:r>
              <a:rPr lang="en-IN" sz="1600" i="1" dirty="0"/>
              <a:t>Workflow 2 (Credential Sent Checker):</a:t>
            </a:r>
            <a:r>
              <a:rPr lang="en-IN" sz="1600" dirty="0"/>
              <a:t> Validates delivery and transitions state to UAT_CREDENTIALS_SENT. </a:t>
            </a:r>
          </a:p>
          <a:p>
            <a:pPr lvl="1"/>
            <a:r>
              <a:rPr lang="en-IN" sz="1600" i="1" dirty="0"/>
              <a:t>Workflow 3 (Follow-Up Tracker):</a:t>
            </a:r>
            <a:r>
              <a:rPr lang="en-IN" sz="1600" dirty="0"/>
              <a:t> Scans client replies and executes dynamic, aging follow-up loops. </a:t>
            </a:r>
          </a:p>
        </p:txBody>
      </p:sp>
      <p:sp>
        <p:nvSpPr>
          <p:cNvPr id="7" name="TextBox 6">
            <a:extLst>
              <a:ext uri="{FF2B5EF4-FFF2-40B4-BE49-F238E27FC236}">
                <a16:creationId xmlns:a16="http://schemas.microsoft.com/office/drawing/2014/main" id="{BCC444CC-9B4B-E16A-FAE2-47D6194289EE}"/>
              </a:ext>
            </a:extLst>
          </p:cNvPr>
          <p:cNvSpPr txBox="1"/>
          <p:nvPr/>
        </p:nvSpPr>
        <p:spPr>
          <a:xfrm>
            <a:off x="84843" y="6558061"/>
            <a:ext cx="3704733" cy="307777"/>
          </a:xfrm>
          <a:prstGeom prst="rect">
            <a:avLst/>
          </a:prstGeom>
          <a:noFill/>
        </p:spPr>
        <p:txBody>
          <a:bodyPr wrap="square" rtlCol="0">
            <a:spAutoFit/>
          </a:bodyPr>
          <a:lstStyle/>
          <a:p>
            <a:r>
              <a:rPr lang="en-US" sz="1400" dirty="0">
                <a:solidFill>
                  <a:schemeClr val="bg1"/>
                </a:solidFill>
              </a:rPr>
              <a:t>Summer Internship Presentation: Batch’2027</a:t>
            </a:r>
          </a:p>
        </p:txBody>
      </p:sp>
      <p:sp>
        <p:nvSpPr>
          <p:cNvPr id="8" name="TextBox 7">
            <a:extLst>
              <a:ext uri="{FF2B5EF4-FFF2-40B4-BE49-F238E27FC236}">
                <a16:creationId xmlns:a16="http://schemas.microsoft.com/office/drawing/2014/main" id="{A332ACA1-8843-BD33-EC24-11136CE3027D}"/>
              </a:ext>
            </a:extLst>
          </p:cNvPr>
          <p:cNvSpPr txBox="1"/>
          <p:nvPr/>
        </p:nvSpPr>
        <p:spPr>
          <a:xfrm>
            <a:off x="3874418" y="6565900"/>
            <a:ext cx="4930219" cy="307777"/>
          </a:xfrm>
          <a:prstGeom prst="rect">
            <a:avLst/>
          </a:prstGeom>
          <a:noFill/>
        </p:spPr>
        <p:txBody>
          <a:bodyPr wrap="square" rtlCol="0">
            <a:spAutoFit/>
          </a:bodyPr>
          <a:lstStyle/>
          <a:p>
            <a:pPr algn="ctr"/>
            <a:r>
              <a:rPr lang="en-US" sz="1400" dirty="0">
                <a:solidFill>
                  <a:schemeClr val="bg1"/>
                </a:solidFill>
              </a:rPr>
              <a:t>Indian Institute of Management, Sirmaur</a:t>
            </a:r>
          </a:p>
        </p:txBody>
      </p:sp>
      <p:sp>
        <p:nvSpPr>
          <p:cNvPr id="11" name="Slide Number Placeholder 10">
            <a:extLst>
              <a:ext uri="{FF2B5EF4-FFF2-40B4-BE49-F238E27FC236}">
                <a16:creationId xmlns:a16="http://schemas.microsoft.com/office/drawing/2014/main" id="{A73831FF-FE5A-CC02-0A9C-66A6833A5315}"/>
              </a:ext>
            </a:extLst>
          </p:cNvPr>
          <p:cNvSpPr>
            <a:spLocks noGrp="1"/>
          </p:cNvSpPr>
          <p:nvPr>
            <p:ph type="sldNum" sz="quarter" idx="12"/>
          </p:nvPr>
        </p:nvSpPr>
        <p:spPr>
          <a:xfrm>
            <a:off x="9448800" y="6492874"/>
            <a:ext cx="2743200" cy="365125"/>
          </a:xfrm>
        </p:spPr>
        <p:txBody>
          <a:bodyPr/>
          <a:lstStyle/>
          <a:p>
            <a:fld id="{5A0082F7-D4AD-0B42-A975-BF266F6466AA}" type="slidenum">
              <a:rPr lang="en-US" smtClean="0"/>
              <a:t>5</a:t>
            </a:fld>
            <a:endParaRPr lang="en-US"/>
          </a:p>
        </p:txBody>
      </p:sp>
    </p:spTree>
    <p:extLst>
      <p:ext uri="{BB962C8B-B14F-4D97-AF65-F5344CB8AC3E}">
        <p14:creationId xmlns:p14="http://schemas.microsoft.com/office/powerpoint/2010/main" val="2590079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2FF4D-CE7C-E31D-2781-B35955BC408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96DD164-6FCE-0A3D-D454-71144B6BA21A}"/>
              </a:ext>
            </a:extLst>
          </p:cNvPr>
          <p:cNvSpPr/>
          <p:nvPr/>
        </p:nvSpPr>
        <p:spPr>
          <a:xfrm>
            <a:off x="723900" y="1151466"/>
            <a:ext cx="10744200" cy="520594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3B5755-C32C-CF6F-7428-CCC96CF06EE0}"/>
              </a:ext>
            </a:extLst>
          </p:cNvPr>
          <p:cNvSpPr>
            <a:spLocks noGrp="1"/>
          </p:cNvSpPr>
          <p:nvPr>
            <p:ph type="title"/>
          </p:nvPr>
        </p:nvSpPr>
        <p:spPr>
          <a:xfrm>
            <a:off x="838200" y="365126"/>
            <a:ext cx="9867900" cy="605896"/>
          </a:xfrm>
        </p:spPr>
        <p:txBody>
          <a:bodyPr anchor="t"/>
          <a:lstStyle/>
          <a:p>
            <a:pPr>
              <a:lnSpc>
                <a:spcPct val="100000"/>
              </a:lnSpc>
            </a:pPr>
            <a:r>
              <a:rPr lang="en-US" sz="3200" dirty="0">
                <a:solidFill>
                  <a:srgbClr val="0A4474"/>
                </a:solidFill>
                <a:latin typeface="Helvetica" pitchFamily="2" charset="0"/>
              </a:rPr>
              <a:t>Your Approach/ Work</a:t>
            </a:r>
          </a:p>
        </p:txBody>
      </p:sp>
      <p:sp>
        <p:nvSpPr>
          <p:cNvPr id="3" name="Content Placeholder 2">
            <a:extLst>
              <a:ext uri="{FF2B5EF4-FFF2-40B4-BE49-F238E27FC236}">
                <a16:creationId xmlns:a16="http://schemas.microsoft.com/office/drawing/2014/main" id="{41B7D513-0E23-D6A9-8299-240E6C0A0128}"/>
              </a:ext>
            </a:extLst>
          </p:cNvPr>
          <p:cNvSpPr>
            <a:spLocks noGrp="1"/>
          </p:cNvSpPr>
          <p:nvPr>
            <p:ph idx="1"/>
          </p:nvPr>
        </p:nvSpPr>
        <p:spPr>
          <a:xfrm>
            <a:off x="838200" y="1253330"/>
            <a:ext cx="10515600" cy="4909725"/>
          </a:xfrm>
        </p:spPr>
        <p:txBody>
          <a:bodyPr/>
          <a:lstStyle/>
          <a:p>
            <a:pPr marL="0" indent="0">
              <a:buNone/>
            </a:pPr>
            <a:r>
              <a:rPr lang="en-IN" sz="2000" dirty="0"/>
              <a:t>Timeline, Skills &amp; MBA Learnings Applied</a:t>
            </a:r>
            <a:endParaRPr lang="en-IN" sz="1600" b="1" dirty="0"/>
          </a:p>
          <a:p>
            <a:r>
              <a:rPr lang="en-IN" sz="1600" b="1" dirty="0"/>
              <a:t>Project Timelines:</a:t>
            </a:r>
            <a:endParaRPr lang="en-IN" sz="1600" dirty="0"/>
          </a:p>
          <a:p>
            <a:pPr lvl="1"/>
            <a:r>
              <a:rPr lang="en-IN" sz="1600" i="1" dirty="0"/>
              <a:t>Weeks 1–2:</a:t>
            </a:r>
            <a:r>
              <a:rPr lang="en-IN" sz="1600" dirty="0"/>
              <a:t> Current-state workflow mapping, GCP integration environment provisioning, and API scoping. </a:t>
            </a:r>
          </a:p>
          <a:p>
            <a:pPr lvl="1"/>
            <a:r>
              <a:rPr lang="en-IN" sz="1600" i="1" dirty="0"/>
              <a:t>Weeks 3–5:</a:t>
            </a:r>
            <a:r>
              <a:rPr lang="en-IN" sz="1600" dirty="0"/>
              <a:t> Database schema architecture, automated script node wiring, and core parsing logic rules. </a:t>
            </a:r>
          </a:p>
          <a:p>
            <a:pPr lvl="1"/>
            <a:r>
              <a:rPr lang="en-IN" sz="1600" i="1" dirty="0"/>
              <a:t>Weeks 6–7:</a:t>
            </a:r>
            <a:r>
              <a:rPr lang="en-IN" sz="1600" dirty="0"/>
              <a:t> Multi-stage lifecycle integration testing, client response loop edge-case building, and manual override handling (Refunds/Discontinuations). </a:t>
            </a:r>
          </a:p>
          <a:p>
            <a:pPr lvl="1"/>
            <a:r>
              <a:rPr lang="en-IN" sz="1600" i="1" dirty="0"/>
              <a:t>Week 8:</a:t>
            </a:r>
            <a:r>
              <a:rPr lang="en-IN" sz="1600" dirty="0"/>
              <a:t> Compiling full technical SOP documentation, setting system guardrails, and executing cross-functional handoff. </a:t>
            </a:r>
          </a:p>
          <a:p>
            <a:r>
              <a:rPr lang="en-IN" sz="1600" b="1" dirty="0"/>
              <a:t>Applied Skills &amp; Tech Stack:</a:t>
            </a:r>
            <a:r>
              <a:rPr lang="en-IN" sz="1600" dirty="0"/>
              <a:t> Workflow Automation Orchestration, Cloud Resource Management (GCP console), Data Schema Architecture, API Integration (OAuth 2.0 protocols), and Technical </a:t>
            </a:r>
            <a:r>
              <a:rPr lang="en-IN" sz="1600" dirty="0" err="1"/>
              <a:t>Technical</a:t>
            </a:r>
            <a:r>
              <a:rPr lang="en-IN" sz="1600" dirty="0"/>
              <a:t> Writing. </a:t>
            </a:r>
          </a:p>
          <a:p>
            <a:r>
              <a:rPr lang="en-IN" sz="1600" b="1" dirty="0"/>
              <a:t>Applied MBA Learnings:</a:t>
            </a:r>
            <a:endParaRPr lang="en-IN" sz="1600" dirty="0"/>
          </a:p>
          <a:p>
            <a:pPr lvl="1"/>
            <a:r>
              <a:rPr lang="en-IN" sz="1600" b="1" i="1" dirty="0"/>
              <a:t>Operations Management &amp; Process Analysis</a:t>
            </a:r>
            <a:r>
              <a:rPr lang="en-IN" sz="1600" i="1" dirty="0"/>
              <a:t>:</a:t>
            </a:r>
            <a:r>
              <a:rPr lang="en-IN" sz="1600" dirty="0"/>
              <a:t> Used capacity balancing principles to identify operational friction points and replace manual steps with deterministic digital routing.</a:t>
            </a:r>
          </a:p>
          <a:p>
            <a:pPr lvl="1"/>
            <a:r>
              <a:rPr lang="en-IN" sz="1600" b="1" i="1" dirty="0"/>
              <a:t>Information Systems Management</a:t>
            </a:r>
            <a:r>
              <a:rPr lang="en-IN" sz="1600" i="1" dirty="0"/>
              <a:t>:</a:t>
            </a:r>
            <a:r>
              <a:rPr lang="en-IN" sz="1600" dirty="0"/>
              <a:t> Implemented entity-relationship principles by leveraging </a:t>
            </a:r>
            <a:r>
              <a:rPr lang="en-IN" sz="1600" dirty="0" err="1"/>
              <a:t>thread_ID</a:t>
            </a:r>
            <a:r>
              <a:rPr lang="en-IN" sz="1600" dirty="0"/>
              <a:t> as a non-clashing unique primary key to achieve row-level database granularity across data tables. </a:t>
            </a:r>
          </a:p>
          <a:p>
            <a:pPr lvl="1"/>
            <a:r>
              <a:rPr lang="en-IN" sz="1600" b="1" i="1" dirty="0"/>
              <a:t>Strategic Document Design</a:t>
            </a:r>
            <a:r>
              <a:rPr lang="en-IN" sz="1600" i="1" dirty="0"/>
              <a:t>:</a:t>
            </a:r>
            <a:r>
              <a:rPr lang="en-IN" sz="1600" dirty="0"/>
              <a:t> Translated complex system logic into an accessible, step-by-step corporate SOP to maintain operational continuity across business functions. </a:t>
            </a:r>
          </a:p>
        </p:txBody>
      </p:sp>
      <p:sp>
        <p:nvSpPr>
          <p:cNvPr id="7" name="TextBox 6">
            <a:extLst>
              <a:ext uri="{FF2B5EF4-FFF2-40B4-BE49-F238E27FC236}">
                <a16:creationId xmlns:a16="http://schemas.microsoft.com/office/drawing/2014/main" id="{6D8F6CF7-B99C-89E8-FAAF-B39D8818A9FA}"/>
              </a:ext>
            </a:extLst>
          </p:cNvPr>
          <p:cNvSpPr txBox="1"/>
          <p:nvPr/>
        </p:nvSpPr>
        <p:spPr>
          <a:xfrm>
            <a:off x="84843" y="6558061"/>
            <a:ext cx="3704733" cy="307777"/>
          </a:xfrm>
          <a:prstGeom prst="rect">
            <a:avLst/>
          </a:prstGeom>
          <a:noFill/>
        </p:spPr>
        <p:txBody>
          <a:bodyPr wrap="square" rtlCol="0">
            <a:spAutoFit/>
          </a:bodyPr>
          <a:lstStyle/>
          <a:p>
            <a:r>
              <a:rPr lang="en-US" sz="1400" dirty="0">
                <a:solidFill>
                  <a:schemeClr val="bg1"/>
                </a:solidFill>
              </a:rPr>
              <a:t>Summer Internship Presentation: Batch’2027</a:t>
            </a:r>
          </a:p>
        </p:txBody>
      </p:sp>
      <p:sp>
        <p:nvSpPr>
          <p:cNvPr id="8" name="TextBox 7">
            <a:extLst>
              <a:ext uri="{FF2B5EF4-FFF2-40B4-BE49-F238E27FC236}">
                <a16:creationId xmlns:a16="http://schemas.microsoft.com/office/drawing/2014/main" id="{767CC752-8F70-690B-81D9-0D1581AB9B35}"/>
              </a:ext>
            </a:extLst>
          </p:cNvPr>
          <p:cNvSpPr txBox="1"/>
          <p:nvPr/>
        </p:nvSpPr>
        <p:spPr>
          <a:xfrm>
            <a:off x="3874418" y="6565900"/>
            <a:ext cx="4930219" cy="307777"/>
          </a:xfrm>
          <a:prstGeom prst="rect">
            <a:avLst/>
          </a:prstGeom>
          <a:noFill/>
        </p:spPr>
        <p:txBody>
          <a:bodyPr wrap="square" rtlCol="0">
            <a:spAutoFit/>
          </a:bodyPr>
          <a:lstStyle/>
          <a:p>
            <a:pPr algn="ctr"/>
            <a:r>
              <a:rPr lang="en-US" sz="1400" dirty="0">
                <a:solidFill>
                  <a:schemeClr val="bg1"/>
                </a:solidFill>
              </a:rPr>
              <a:t>Indian Institute of Management, Sirmaur</a:t>
            </a:r>
          </a:p>
        </p:txBody>
      </p:sp>
      <p:sp>
        <p:nvSpPr>
          <p:cNvPr id="11" name="Slide Number Placeholder 10">
            <a:extLst>
              <a:ext uri="{FF2B5EF4-FFF2-40B4-BE49-F238E27FC236}">
                <a16:creationId xmlns:a16="http://schemas.microsoft.com/office/drawing/2014/main" id="{130BC523-1100-E212-17C6-56B119CC8937}"/>
              </a:ext>
            </a:extLst>
          </p:cNvPr>
          <p:cNvSpPr>
            <a:spLocks noGrp="1"/>
          </p:cNvSpPr>
          <p:nvPr>
            <p:ph type="sldNum" sz="quarter" idx="12"/>
          </p:nvPr>
        </p:nvSpPr>
        <p:spPr>
          <a:xfrm>
            <a:off x="9448800" y="6492874"/>
            <a:ext cx="2743200" cy="365125"/>
          </a:xfrm>
        </p:spPr>
        <p:txBody>
          <a:bodyPr/>
          <a:lstStyle/>
          <a:p>
            <a:fld id="{5A0082F7-D4AD-0B42-A975-BF266F6466AA}" type="slidenum">
              <a:rPr lang="en-US" smtClean="0"/>
              <a:t>6</a:t>
            </a:fld>
            <a:endParaRPr lang="en-US"/>
          </a:p>
        </p:txBody>
      </p:sp>
    </p:spTree>
    <p:extLst>
      <p:ext uri="{BB962C8B-B14F-4D97-AF65-F5344CB8AC3E}">
        <p14:creationId xmlns:p14="http://schemas.microsoft.com/office/powerpoint/2010/main" val="2001879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180034-4E57-3EED-C932-8ACF311E27DC}"/>
              </a:ext>
            </a:extLst>
          </p:cNvPr>
          <p:cNvSpPr/>
          <p:nvPr/>
        </p:nvSpPr>
        <p:spPr>
          <a:xfrm>
            <a:off x="723900" y="1151466"/>
            <a:ext cx="10744200" cy="520594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AD00A3-442C-D9AF-7242-6D67CC23A306}"/>
              </a:ext>
            </a:extLst>
          </p:cNvPr>
          <p:cNvSpPr>
            <a:spLocks noGrp="1"/>
          </p:cNvSpPr>
          <p:nvPr>
            <p:ph type="title"/>
          </p:nvPr>
        </p:nvSpPr>
        <p:spPr>
          <a:xfrm>
            <a:off x="838200" y="365126"/>
            <a:ext cx="9867900" cy="605896"/>
          </a:xfrm>
        </p:spPr>
        <p:txBody>
          <a:bodyPr anchor="t"/>
          <a:lstStyle/>
          <a:p>
            <a:pPr>
              <a:lnSpc>
                <a:spcPct val="100000"/>
              </a:lnSpc>
            </a:pPr>
            <a:r>
              <a:rPr lang="en-IN" sz="3200" dirty="0"/>
              <a:t>Measurable Business Outcomes &amp; System Impact</a:t>
            </a:r>
            <a:endParaRPr lang="en-US" sz="3200" dirty="0">
              <a:solidFill>
                <a:srgbClr val="0A4474"/>
              </a:solidFill>
              <a:latin typeface="Helvetica" pitchFamily="2" charset="0"/>
            </a:endParaRPr>
          </a:p>
        </p:txBody>
      </p:sp>
      <p:sp>
        <p:nvSpPr>
          <p:cNvPr id="3" name="Content Placeholder 2">
            <a:extLst>
              <a:ext uri="{FF2B5EF4-FFF2-40B4-BE49-F238E27FC236}">
                <a16:creationId xmlns:a16="http://schemas.microsoft.com/office/drawing/2014/main" id="{C9CE4721-619C-27E4-0895-2A5DFDDAB2C0}"/>
              </a:ext>
            </a:extLst>
          </p:cNvPr>
          <p:cNvSpPr>
            <a:spLocks noGrp="1"/>
          </p:cNvSpPr>
          <p:nvPr>
            <p:ph idx="1"/>
          </p:nvPr>
        </p:nvSpPr>
        <p:spPr>
          <a:xfrm>
            <a:off x="838200" y="1253331"/>
            <a:ext cx="10515600" cy="4351338"/>
          </a:xfrm>
        </p:spPr>
        <p:txBody>
          <a:bodyPr/>
          <a:lstStyle/>
          <a:p>
            <a:r>
              <a:rPr lang="en-IN" sz="2000" b="1" dirty="0"/>
              <a:t>Zero-Intervention Tracking Mechanics:</a:t>
            </a:r>
            <a:r>
              <a:rPr lang="en-IN" sz="2000" dirty="0"/>
              <a:t> Created a self-sustaining data stream where client transactions migrate cleanly from email nodes directly into structured tables, reducing human setup </a:t>
            </a:r>
            <a:r>
              <a:rPr lang="en-IN" sz="2000" dirty="0" err="1"/>
              <a:t>labor</a:t>
            </a:r>
            <a:r>
              <a:rPr lang="en-IN" sz="2000" dirty="0"/>
              <a:t>. </a:t>
            </a:r>
          </a:p>
          <a:p>
            <a:r>
              <a:rPr lang="en-IN" sz="2000" b="1" dirty="0"/>
              <a:t>Deterministic Lifecycle States:</a:t>
            </a:r>
            <a:r>
              <a:rPr lang="en-IN" sz="2000" dirty="0"/>
              <a:t> Replaced ambiguous milestone tracking with a definitive, state-driven model that explicitly shifts records through exact flags (UAT_REQUIREMENT_SENT ➔ UAT_CREDENTIALS_SENT ➔ UAT_SIGNOFF_DONE ➔ GO_LIVE_DONE), removing guesswork from the pipeline. </a:t>
            </a:r>
          </a:p>
          <a:p>
            <a:r>
              <a:rPr lang="en-IN" sz="2000" b="1" dirty="0"/>
              <a:t>Algorithmic Follow-Up Discipline:</a:t>
            </a:r>
            <a:r>
              <a:rPr lang="en-IN" sz="2000" dirty="0"/>
              <a:t> Introduced an automated aging escalation schedule that shifts states precisely based on timeline thresholds, instantly resetting to baseline values the moment an active partner responds. </a:t>
            </a:r>
          </a:p>
          <a:p>
            <a:r>
              <a:rPr lang="en-IN" sz="2000" b="1" dirty="0"/>
              <a:t>Operational Continuity Assurance:</a:t>
            </a:r>
            <a:r>
              <a:rPr lang="en-IN" sz="2000" dirty="0"/>
              <a:t> Formulated an exhaustive deployment guide and critical operating parameters to insulate the system from runtime breaks (e.g., maintaining column string formats, enforcing strict node hierarchies, and setting manual boundaries for refunds). </a:t>
            </a:r>
          </a:p>
        </p:txBody>
      </p:sp>
      <p:sp>
        <p:nvSpPr>
          <p:cNvPr id="7" name="TextBox 6">
            <a:extLst>
              <a:ext uri="{FF2B5EF4-FFF2-40B4-BE49-F238E27FC236}">
                <a16:creationId xmlns:a16="http://schemas.microsoft.com/office/drawing/2014/main" id="{BCC444CC-9B4B-E16A-FAE2-47D6194289EE}"/>
              </a:ext>
            </a:extLst>
          </p:cNvPr>
          <p:cNvSpPr txBox="1"/>
          <p:nvPr/>
        </p:nvSpPr>
        <p:spPr>
          <a:xfrm>
            <a:off x="84843" y="6558061"/>
            <a:ext cx="3704733" cy="307777"/>
          </a:xfrm>
          <a:prstGeom prst="rect">
            <a:avLst/>
          </a:prstGeom>
          <a:noFill/>
        </p:spPr>
        <p:txBody>
          <a:bodyPr wrap="square" rtlCol="0">
            <a:spAutoFit/>
          </a:bodyPr>
          <a:lstStyle/>
          <a:p>
            <a:r>
              <a:rPr lang="en-US" sz="1400" dirty="0">
                <a:solidFill>
                  <a:schemeClr val="bg1"/>
                </a:solidFill>
              </a:rPr>
              <a:t>Summer Internship Presentation: Batch’2027</a:t>
            </a:r>
          </a:p>
        </p:txBody>
      </p:sp>
      <p:sp>
        <p:nvSpPr>
          <p:cNvPr id="8" name="TextBox 7">
            <a:extLst>
              <a:ext uri="{FF2B5EF4-FFF2-40B4-BE49-F238E27FC236}">
                <a16:creationId xmlns:a16="http://schemas.microsoft.com/office/drawing/2014/main" id="{A332ACA1-8843-BD33-EC24-11136CE3027D}"/>
              </a:ext>
            </a:extLst>
          </p:cNvPr>
          <p:cNvSpPr txBox="1"/>
          <p:nvPr/>
        </p:nvSpPr>
        <p:spPr>
          <a:xfrm>
            <a:off x="3874418" y="6565900"/>
            <a:ext cx="4930219" cy="307777"/>
          </a:xfrm>
          <a:prstGeom prst="rect">
            <a:avLst/>
          </a:prstGeom>
          <a:noFill/>
        </p:spPr>
        <p:txBody>
          <a:bodyPr wrap="square" rtlCol="0">
            <a:spAutoFit/>
          </a:bodyPr>
          <a:lstStyle/>
          <a:p>
            <a:pPr algn="ctr"/>
            <a:r>
              <a:rPr lang="en-US" sz="1400" dirty="0">
                <a:solidFill>
                  <a:schemeClr val="bg1"/>
                </a:solidFill>
              </a:rPr>
              <a:t>Indian Institute of Management, Sirmaur</a:t>
            </a:r>
          </a:p>
        </p:txBody>
      </p:sp>
      <p:sp>
        <p:nvSpPr>
          <p:cNvPr id="11" name="Slide Number Placeholder 10">
            <a:extLst>
              <a:ext uri="{FF2B5EF4-FFF2-40B4-BE49-F238E27FC236}">
                <a16:creationId xmlns:a16="http://schemas.microsoft.com/office/drawing/2014/main" id="{A73831FF-FE5A-CC02-0A9C-66A6833A5315}"/>
              </a:ext>
            </a:extLst>
          </p:cNvPr>
          <p:cNvSpPr>
            <a:spLocks noGrp="1"/>
          </p:cNvSpPr>
          <p:nvPr>
            <p:ph type="sldNum" sz="quarter" idx="12"/>
          </p:nvPr>
        </p:nvSpPr>
        <p:spPr>
          <a:xfrm>
            <a:off x="9448800" y="6492874"/>
            <a:ext cx="2743200" cy="365125"/>
          </a:xfrm>
        </p:spPr>
        <p:txBody>
          <a:bodyPr/>
          <a:lstStyle/>
          <a:p>
            <a:fld id="{5A0082F7-D4AD-0B42-A975-BF266F6466AA}" type="slidenum">
              <a:rPr lang="en-US" smtClean="0"/>
              <a:t>7</a:t>
            </a:fld>
            <a:endParaRPr lang="en-US"/>
          </a:p>
        </p:txBody>
      </p:sp>
    </p:spTree>
    <p:extLst>
      <p:ext uri="{BB962C8B-B14F-4D97-AF65-F5344CB8AC3E}">
        <p14:creationId xmlns:p14="http://schemas.microsoft.com/office/powerpoint/2010/main" val="2132229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180034-4E57-3EED-C932-8ACF311E27DC}"/>
              </a:ext>
            </a:extLst>
          </p:cNvPr>
          <p:cNvSpPr/>
          <p:nvPr/>
        </p:nvSpPr>
        <p:spPr>
          <a:xfrm>
            <a:off x="723900" y="1151466"/>
            <a:ext cx="10744200" cy="520594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AD00A3-442C-D9AF-7242-6D67CC23A306}"/>
              </a:ext>
            </a:extLst>
          </p:cNvPr>
          <p:cNvSpPr>
            <a:spLocks noGrp="1"/>
          </p:cNvSpPr>
          <p:nvPr>
            <p:ph type="title"/>
          </p:nvPr>
        </p:nvSpPr>
        <p:spPr>
          <a:xfrm>
            <a:off x="838200" y="365126"/>
            <a:ext cx="9867900" cy="605896"/>
          </a:xfrm>
        </p:spPr>
        <p:txBody>
          <a:bodyPr anchor="t"/>
          <a:lstStyle/>
          <a:p>
            <a:pPr>
              <a:lnSpc>
                <a:spcPct val="100000"/>
              </a:lnSpc>
            </a:pPr>
            <a:r>
              <a:rPr lang="en-US" sz="3200" dirty="0">
                <a:solidFill>
                  <a:srgbClr val="0A4474"/>
                </a:solidFill>
                <a:latin typeface="Helvetica" pitchFamily="2" charset="0"/>
              </a:rPr>
              <a:t>Key Learnings/Recommendations</a:t>
            </a:r>
          </a:p>
        </p:txBody>
      </p:sp>
      <p:sp>
        <p:nvSpPr>
          <p:cNvPr id="3" name="Content Placeholder 2">
            <a:extLst>
              <a:ext uri="{FF2B5EF4-FFF2-40B4-BE49-F238E27FC236}">
                <a16:creationId xmlns:a16="http://schemas.microsoft.com/office/drawing/2014/main" id="{C9CE4721-619C-27E4-0895-2A5DFDDAB2C0}"/>
              </a:ext>
            </a:extLst>
          </p:cNvPr>
          <p:cNvSpPr>
            <a:spLocks noGrp="1"/>
          </p:cNvSpPr>
          <p:nvPr>
            <p:ph idx="1"/>
          </p:nvPr>
        </p:nvSpPr>
        <p:spPr>
          <a:xfrm>
            <a:off x="838200" y="1253331"/>
            <a:ext cx="10515600" cy="4351338"/>
          </a:xfrm>
        </p:spPr>
        <p:txBody>
          <a:bodyPr/>
          <a:lstStyle/>
          <a:p>
            <a:r>
              <a:rPr lang="en-IN" sz="1800" b="1" dirty="0"/>
              <a:t>Project &amp; Technical Learnings:</a:t>
            </a:r>
            <a:r>
              <a:rPr lang="en-IN" sz="1800" dirty="0"/>
              <a:t> Mastered the assembly of cloud-based integration layer architectures, gained deep fluency in cloud security access methods (OAuth scopes and redirect paths), and realized how important precise text parsing criteria are to automation robustness. </a:t>
            </a:r>
          </a:p>
          <a:p>
            <a:r>
              <a:rPr lang="en-IN" sz="1800" b="1" dirty="0"/>
              <a:t>Organizational Experience:</a:t>
            </a:r>
            <a:r>
              <a:rPr lang="en-IN" sz="1800" dirty="0"/>
              <a:t> Gained firsthand experience on how critical clear internal handoff documentation is when bridging engineering goals with client-facing business teams. Learned to design </a:t>
            </a:r>
            <a:r>
              <a:rPr lang="en-IN" sz="1800" dirty="0" err="1"/>
              <a:t>failsafes</a:t>
            </a:r>
            <a:r>
              <a:rPr lang="en-IN" sz="1800" dirty="0"/>
              <a:t> for technical systems to accommodate inevitable real-world operational exceptions. </a:t>
            </a:r>
          </a:p>
          <a:p>
            <a:r>
              <a:rPr lang="en-IN" sz="1800" b="1" dirty="0"/>
              <a:t>List of Tools Learned:</a:t>
            </a:r>
            <a:r>
              <a:rPr lang="en-IN" sz="1800" dirty="0"/>
              <a:t> n8n Workflow Orchestrator, Google Cloud Console (APIs &amp; Services Layer), Node.js Ecosystem, Advanced Google Workspace Schema Logic. </a:t>
            </a:r>
          </a:p>
          <a:p>
            <a:r>
              <a:rPr lang="en-IN" sz="1800" b="1" dirty="0"/>
              <a:t>Suggestions for the PGP Committee:</a:t>
            </a:r>
            <a:r>
              <a:rPr lang="en-IN" sz="1800" dirty="0"/>
              <a:t> Recommend adding a practical component to the core Management Information Systems (MIS) or Operations curriculum that goes beyond standard software concepts. Introducing modern, no-code/low-code business automation architectures (like n8n, Make, or Zapier) would equip future product and operations managers with the immediate toolkit needed to automate messy corporate processes.</a:t>
            </a:r>
          </a:p>
        </p:txBody>
      </p:sp>
      <p:sp>
        <p:nvSpPr>
          <p:cNvPr id="7" name="TextBox 6">
            <a:extLst>
              <a:ext uri="{FF2B5EF4-FFF2-40B4-BE49-F238E27FC236}">
                <a16:creationId xmlns:a16="http://schemas.microsoft.com/office/drawing/2014/main" id="{BCC444CC-9B4B-E16A-FAE2-47D6194289EE}"/>
              </a:ext>
            </a:extLst>
          </p:cNvPr>
          <p:cNvSpPr txBox="1"/>
          <p:nvPr/>
        </p:nvSpPr>
        <p:spPr>
          <a:xfrm>
            <a:off x="84843" y="6558061"/>
            <a:ext cx="3704733" cy="307777"/>
          </a:xfrm>
          <a:prstGeom prst="rect">
            <a:avLst/>
          </a:prstGeom>
          <a:noFill/>
        </p:spPr>
        <p:txBody>
          <a:bodyPr wrap="square" rtlCol="0">
            <a:spAutoFit/>
          </a:bodyPr>
          <a:lstStyle/>
          <a:p>
            <a:r>
              <a:rPr lang="en-US" sz="1400" dirty="0">
                <a:solidFill>
                  <a:schemeClr val="bg1"/>
                </a:solidFill>
              </a:rPr>
              <a:t>Summer Internship Presentation: Batch’2027</a:t>
            </a:r>
          </a:p>
        </p:txBody>
      </p:sp>
      <p:sp>
        <p:nvSpPr>
          <p:cNvPr id="8" name="TextBox 7">
            <a:extLst>
              <a:ext uri="{FF2B5EF4-FFF2-40B4-BE49-F238E27FC236}">
                <a16:creationId xmlns:a16="http://schemas.microsoft.com/office/drawing/2014/main" id="{A332ACA1-8843-BD33-EC24-11136CE3027D}"/>
              </a:ext>
            </a:extLst>
          </p:cNvPr>
          <p:cNvSpPr txBox="1"/>
          <p:nvPr/>
        </p:nvSpPr>
        <p:spPr>
          <a:xfrm>
            <a:off x="3874418" y="6565900"/>
            <a:ext cx="4930219" cy="307777"/>
          </a:xfrm>
          <a:prstGeom prst="rect">
            <a:avLst/>
          </a:prstGeom>
          <a:noFill/>
        </p:spPr>
        <p:txBody>
          <a:bodyPr wrap="square" rtlCol="0">
            <a:spAutoFit/>
          </a:bodyPr>
          <a:lstStyle/>
          <a:p>
            <a:pPr algn="ctr"/>
            <a:r>
              <a:rPr lang="en-US" sz="1400" dirty="0">
                <a:solidFill>
                  <a:schemeClr val="bg1"/>
                </a:solidFill>
              </a:rPr>
              <a:t>Indian Institute of Management, Sirmaur</a:t>
            </a:r>
          </a:p>
        </p:txBody>
      </p:sp>
      <p:sp>
        <p:nvSpPr>
          <p:cNvPr id="11" name="Slide Number Placeholder 10">
            <a:extLst>
              <a:ext uri="{FF2B5EF4-FFF2-40B4-BE49-F238E27FC236}">
                <a16:creationId xmlns:a16="http://schemas.microsoft.com/office/drawing/2014/main" id="{A73831FF-FE5A-CC02-0A9C-66A6833A5315}"/>
              </a:ext>
            </a:extLst>
          </p:cNvPr>
          <p:cNvSpPr>
            <a:spLocks noGrp="1"/>
          </p:cNvSpPr>
          <p:nvPr>
            <p:ph type="sldNum" sz="quarter" idx="12"/>
          </p:nvPr>
        </p:nvSpPr>
        <p:spPr>
          <a:xfrm>
            <a:off x="9448800" y="6492874"/>
            <a:ext cx="2743200" cy="365125"/>
          </a:xfrm>
        </p:spPr>
        <p:txBody>
          <a:bodyPr/>
          <a:lstStyle/>
          <a:p>
            <a:fld id="{5A0082F7-D4AD-0B42-A975-BF266F6466AA}" type="slidenum">
              <a:rPr lang="en-US" smtClean="0"/>
              <a:t>8</a:t>
            </a:fld>
            <a:endParaRPr lang="en-US"/>
          </a:p>
        </p:txBody>
      </p:sp>
    </p:spTree>
    <p:extLst>
      <p:ext uri="{BB962C8B-B14F-4D97-AF65-F5344CB8AC3E}">
        <p14:creationId xmlns:p14="http://schemas.microsoft.com/office/powerpoint/2010/main" val="880977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BA722B5-01C3-2065-9029-4FBDBFB93F7B}"/>
              </a:ext>
            </a:extLst>
          </p:cNvPr>
          <p:cNvSpPr txBox="1">
            <a:spLocks/>
          </p:cNvSpPr>
          <p:nvPr/>
        </p:nvSpPr>
        <p:spPr>
          <a:xfrm>
            <a:off x="1276350" y="3135312"/>
            <a:ext cx="9639300" cy="587375"/>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5400" dirty="0">
                <a:solidFill>
                  <a:srgbClr val="0A4474"/>
                </a:solidFill>
                <a:latin typeface="Helvetica" pitchFamily="2" charset="0"/>
              </a:rPr>
              <a:t>Thank You</a:t>
            </a:r>
          </a:p>
        </p:txBody>
      </p:sp>
    </p:spTree>
    <p:extLst>
      <p:ext uri="{BB962C8B-B14F-4D97-AF65-F5344CB8AC3E}">
        <p14:creationId xmlns:p14="http://schemas.microsoft.com/office/powerpoint/2010/main" val="2046812768"/>
      </p:ext>
    </p:extLst>
  </p:cSld>
  <p:clrMapOvr>
    <a:masterClrMapping/>
  </p:clrMapOvr>
</p:sld>
</file>

<file path=ppt/theme/theme1.xml><?xml version="1.0" encoding="utf-8"?>
<a:theme xmlns:a="http://schemas.openxmlformats.org/drawingml/2006/main" name="PPT_Internship">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2731</TotalTime>
  <Words>1225</Words>
  <Application>Microsoft Office PowerPoint</Application>
  <PresentationFormat>Widescreen</PresentationFormat>
  <Paragraphs>81</Paragraphs>
  <Slides>9</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9</vt:i4>
      </vt:variant>
    </vt:vector>
  </HeadingPairs>
  <TitlesOfParts>
    <vt:vector size="16" baseType="lpstr">
      <vt:lpstr>Aptos</vt:lpstr>
      <vt:lpstr>Aptos Display</vt:lpstr>
      <vt:lpstr>Arial</vt:lpstr>
      <vt:lpstr>Google Sans Text</vt:lpstr>
      <vt:lpstr>Helvetica</vt:lpstr>
      <vt:lpstr>PPT_Internship</vt:lpstr>
      <vt:lpstr>Custom Design</vt:lpstr>
      <vt:lpstr>PowerPoint Presentation</vt:lpstr>
      <vt:lpstr>PowerPoint Presentation</vt:lpstr>
      <vt:lpstr>Project Title</vt:lpstr>
      <vt:lpstr>Problem Description</vt:lpstr>
      <vt:lpstr>Your Approach/ Work</vt:lpstr>
      <vt:lpstr>Your Approach/ Work</vt:lpstr>
      <vt:lpstr>Measurable Business Outcomes &amp; System Impact</vt:lpstr>
      <vt:lpstr>Key Learnings/Recommendations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BHAVY JANGRA</dc:creator>
  <cp:lastModifiedBy>ROHIT GHOSH</cp:lastModifiedBy>
  <cp:revision>23</cp:revision>
  <dcterms:created xsi:type="dcterms:W3CDTF">2024-05-23T12:19:34Z</dcterms:created>
  <dcterms:modified xsi:type="dcterms:W3CDTF">2026-06-14T12:10:08Z</dcterms:modified>
</cp:coreProperties>
</file>